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gacyIQ" id="{1259344b-097e-2185-7328-ba3411d21af1}">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critical banking logic is buried in COBOL, so migrating without understanding it is risky. LegacyIQ analyzes first and plans second. Demo program: TRANS-PROC.CBL.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Steps 1-4 establish facts from the source. Step 5 compares rules with evidence and flags conflicts for humans. Steps 6-8 decide, plan and define regression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backend, COBOL analysis and output layers, with the technology and purpose of each. Flow: React + Tailwind to FastAPI to the Python analysis engine to evidence and risk intelligence to the modernization report. Groq is optional. Java 21 and Spring Boot 3.x are the proposed target, not how LegacyIQ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capabilities. Stress evidence-gated validation: confirmed code behaviour is kept separate from unverified business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demo outcome on TRANS-PROC.CBL and the business value. Findings are traceable and support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1672" cy="7315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1672"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LEGACYIQ  ·  PROBLEM STATEMENT</a:t>
            </a:r>
            <a:endParaRPr lang="en-US" sz="1200" dirty="0"/>
          </a:p>
        </p:txBody>
      </p:sp>
      <p:sp>
        <p:nvSpPr>
          <p:cNvPr id="3" name="Text 0"/>
          <p:cNvSpPr/>
          <p:nvPr>
            <p:ph idx="100"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800" b="1" dirty="0">
                <a:solidFill>
                  <a:schemeClr val="bg1"/>
                </a:solidFill>
              </a:rPr>
              <a:t>Legacy Banking Modernization: Understanding Before Replacing</a:t>
            </a:r>
            <a:endParaRPr lang="en-US" sz="2800" dirty="0"/>
          </a:p>
        </p:txBody>
      </p:sp>
      <p:sp>
        <p:nvSpPr>
          <p:cNvPr id="4" name="Problem card"/>
          <p:cNvSpPr/>
          <p:nvPr/>
        </p:nvSpPr>
        <p:spPr>
          <a:xfrm>
            <a:off x="548640" y="1554480"/>
            <a:ext cx="6583680" cy="4572000"/>
          </a:xfrm>
          <a:prstGeom prst="roundRect">
            <a:avLst>
              <a:gd name="adj" fmla="val 2000"/>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868680" y="1783080"/>
            <a:ext cx="5943600" cy="365760"/>
          </a:xfrm>
          <a:prstGeom prst="rect">
            <a:avLst/>
          </a:prstGeom>
          <a:noFill/>
          <a:ln/>
        </p:spPr>
        <p:txBody>
          <a:bodyPr wrap="square" lIns="0" tIns="0" rIns="0" bIns="0" rtlCol="0" anchor="ctr"/>
          <a:lstStyle/>
          <a:p>
            <a:pPr indent="0" marL="0">
              <a:buNone/>
            </a:pPr>
            <a:r>
              <a:rPr lang="en-US" sz="1600" b="1" dirty="0">
                <a:solidFill>
                  <a:schemeClr val="accent1"/>
                </a:solidFill>
              </a:rPr>
              <a:t>THE PROBLEM</a:t>
            </a:r>
            <a:endParaRPr lang="en-US" sz="1600" dirty="0"/>
          </a:p>
        </p:txBody>
      </p:sp>
      <p:sp>
        <p:nvSpPr>
          <p:cNvPr id="6" name="Text 4"/>
          <p:cNvSpPr txBox="1"/>
          <p:nvPr/>
        </p:nvSpPr>
        <p:spPr>
          <a:xfrm>
            <a:off x="868680" y="2331720"/>
            <a:ext cx="5943600" cy="36576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bg1"/>
                </a:solidFill>
              </a:rPr>
              <a:t>Core banking systems rely on legacy COBOL applications that contain critical business logic.</a:t>
            </a:r>
            <a:endParaRPr lang="en-US" sz="1600" dirty="0"/>
          </a:p>
          <a:p>
            <a:pPr marL="342900" indent="-342900">
              <a:spcAft>
                <a:spcPts val="900"/>
              </a:spcAft>
              <a:buSzPct val="100000"/>
              <a:buChar char="•"/>
            </a:pPr>
            <a:r>
              <a:rPr lang="en-US" sz="1600" dirty="0">
                <a:solidFill>
                  <a:schemeClr val="bg1"/>
                </a:solidFill>
              </a:rPr>
              <a:t>Business rules are embedded in source code and are difficult to understand and document.</a:t>
            </a:r>
            <a:endParaRPr lang="en-US" sz="1600" dirty="0"/>
          </a:p>
          <a:p>
            <a:pPr marL="342900" indent="-342900">
              <a:spcAft>
                <a:spcPts val="900"/>
              </a:spcAft>
              <a:buSzPct val="100000"/>
              <a:buChar char="•"/>
            </a:pPr>
            <a:r>
              <a:rPr lang="en-US" sz="1600" dirty="0">
                <a:solidFill>
                  <a:schemeClr val="bg1"/>
                </a:solidFill>
              </a:rPr>
              <a:t>Program dependencies make it difficult to predict the impact of code changes.</a:t>
            </a:r>
            <a:endParaRPr lang="en-US" sz="1600" dirty="0"/>
          </a:p>
          <a:p>
            <a:pPr marL="342900" indent="-342900">
              <a:spcAft>
                <a:spcPts val="900"/>
              </a:spcAft>
              <a:buSzPct val="100000"/>
              <a:buChar char="•"/>
            </a:pPr>
            <a:r>
              <a:rPr lang="en-US" sz="1600" dirty="0">
                <a:solidFill>
                  <a:schemeClr val="bg1"/>
                </a:solidFill>
              </a:rPr>
              <a:t>Undocumented or misunderstood business behaviour increases modernization risks.</a:t>
            </a:r>
            <a:endParaRPr lang="en-US" sz="1600" dirty="0"/>
          </a:p>
          <a:p>
            <a:pPr marL="342900" indent="-342900">
              <a:spcAft>
                <a:spcPts val="900"/>
              </a:spcAft>
              <a:buSzPct val="100000"/>
              <a:buChar char="•"/>
            </a:pPr>
            <a:r>
              <a:rPr lang="en-US" sz="1600" dirty="0">
                <a:solidFill>
                  <a:schemeClr val="bg1"/>
                </a:solidFill>
              </a:rPr>
              <a:t>Direct migration without validating existing functionality can introduce business errors.</a:t>
            </a:r>
            <a:endParaRPr lang="en-US" sz="1600" dirty="0"/>
          </a:p>
        </p:txBody>
      </p:sp>
      <p:sp>
        <p:nvSpPr>
          <p:cNvPr id="7" name="Solution card"/>
          <p:cNvSpPr/>
          <p:nvPr/>
        </p:nvSpPr>
        <p:spPr>
          <a:xfrm>
            <a:off x="7406640" y="1554480"/>
            <a:ext cx="4233672" cy="2926080"/>
          </a:xfrm>
          <a:prstGeom prst="roundRect">
            <a:avLst>
              <a:gd name="adj" fmla="val 3125"/>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7680960" y="1783080"/>
            <a:ext cx="3657600" cy="365760"/>
          </a:xfrm>
          <a:prstGeom prst="rect">
            <a:avLst/>
          </a:prstGeom>
          <a:noFill/>
          <a:ln/>
        </p:spPr>
        <p:txBody>
          <a:bodyPr wrap="square" lIns="0" tIns="0" rIns="0" bIns="0" rtlCol="0" anchor="ctr"/>
          <a:lstStyle/>
          <a:p>
            <a:pPr indent="0" marL="0">
              <a:buNone/>
            </a:pPr>
            <a:r>
              <a:rPr lang="en-US" sz="1600" b="1" dirty="0">
                <a:solidFill>
                  <a:schemeClr val="accent2"/>
                </a:solidFill>
              </a:rPr>
              <a:t>OUR SOLUTION: LEGACYIQ</a:t>
            </a:r>
            <a:endParaRPr lang="en-US" sz="1600" dirty="0"/>
          </a:p>
        </p:txBody>
      </p:sp>
      <p:sp>
        <p:nvSpPr>
          <p:cNvPr id="9" name="Text 7"/>
          <p:cNvSpPr txBox="1"/>
          <p:nvPr/>
        </p:nvSpPr>
        <p:spPr>
          <a:xfrm>
            <a:off x="7680960" y="2286000"/>
            <a:ext cx="3657600" cy="2103120"/>
          </a:xfrm>
          <a:prstGeom prst="rect">
            <a:avLst/>
          </a:prstGeom>
          <a:noFill/>
          <a:ln/>
        </p:spPr>
        <p:txBody>
          <a:bodyPr wrap="square" lIns="0" tIns="0" rIns="0" bIns="0" rtlCol="0" anchor="t"/>
          <a:lstStyle/>
          <a:p>
            <a:pPr indent="0" marL="0">
              <a:buNone/>
            </a:pPr>
            <a:r>
              <a:rPr lang="en-US" sz="1600" dirty="0">
                <a:solidFill>
                  <a:schemeClr val="bg1"/>
                </a:solidFill>
              </a:rPr>
              <a:t>An evidence-guided COBOL modernization intelligence platform that analyzes legacy source code, identifies business rules and dependencies, highlights risks, and generates a structured modernization roadmap.</a:t>
            </a:r>
            <a:endParaRPr lang="en-US" sz="1600" dirty="0"/>
          </a:p>
        </p:txBody>
      </p:sp>
      <p:sp>
        <p:nvSpPr>
          <p:cNvPr id="10" name="Demo card"/>
          <p:cNvSpPr/>
          <p:nvPr/>
        </p:nvSpPr>
        <p:spPr>
          <a:xfrm>
            <a:off x="7406640" y="4663440"/>
            <a:ext cx="4233672" cy="1463040"/>
          </a:xfrm>
          <a:prstGeom prst="roundRect">
            <a:avLst>
              <a:gd name="adj" fmla="val 6250"/>
            </a:avLst>
          </a:prstGeom>
          <a:solidFill>
            <a:srgbClr val="2F4A6E"/>
          </a:solidFill>
          <a:ln w="12700">
            <a:solidFill>
              <a:srgbClr val="2F4A6E"/>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7680960" y="48006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DEMO APPLICATION</a:t>
            </a:r>
            <a:endParaRPr lang="en-US" sz="1200" dirty="0"/>
          </a:p>
        </p:txBody>
      </p:sp>
      <p:sp>
        <p:nvSpPr>
          <p:cNvPr id="12" name="Text 10"/>
          <p:cNvSpPr txBox="1"/>
          <p:nvPr/>
        </p:nvSpPr>
        <p:spPr>
          <a:xfrm>
            <a:off x="7680960" y="5120640"/>
            <a:ext cx="3657600" cy="457200"/>
          </a:xfrm>
          <a:prstGeom prst="rect">
            <a:avLst/>
          </a:prstGeom>
          <a:noFill/>
          <a:ln/>
        </p:spPr>
        <p:txBody>
          <a:bodyPr wrap="square" lIns="0" tIns="0" rIns="0" bIns="0" rtlCol="0" anchor="ctr"/>
          <a:lstStyle/>
          <a:p>
            <a:pPr indent="0" marL="0">
              <a:buNone/>
            </a:pPr>
            <a:r>
              <a:rPr lang="en-US" sz="2400" b="1" dirty="0">
                <a:solidFill>
                  <a:schemeClr val="bg1"/>
                </a:solidFill>
                <a:latin typeface="Courier New" pitchFamily="34" charset="0"/>
                <a:ea typeface="Courier New" pitchFamily="34" charset="-122"/>
                <a:cs typeface="Courier New" pitchFamily="34" charset="-120"/>
              </a:rPr>
              <a:t>TRANS-PROC.CBL</a:t>
            </a:r>
            <a:endParaRPr lang="en-US" sz="2400" dirty="0"/>
          </a:p>
        </p:txBody>
      </p:sp>
      <p:sp>
        <p:nvSpPr>
          <p:cNvPr id="13" name="Text 11"/>
          <p:cNvSpPr txBox="1"/>
          <p:nvPr/>
        </p:nvSpPr>
        <p:spPr>
          <a:xfrm>
            <a:off x="7680960" y="5623560"/>
            <a:ext cx="3657600" cy="320040"/>
          </a:xfrm>
          <a:prstGeom prst="rect">
            <a:avLst/>
          </a:prstGeom>
          <a:noFill/>
          <a:ln/>
        </p:spPr>
        <p:txBody>
          <a:bodyPr wrap="square" lIns="0" tIns="0" rIns="0" bIns="0" rtlCol="0" anchor="ctr"/>
          <a:lstStyle/>
          <a:p>
            <a:pPr indent="0" marL="0">
              <a:buNone/>
            </a:pPr>
            <a:r>
              <a:rPr lang="en-US" sz="1400" dirty="0">
                <a:solidFill>
                  <a:schemeClr val="accent5"/>
                </a:solidFill>
              </a:rPr>
              <a:t>COBOL Banking Transaction Processing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LEGACYIQ  ·  WORKFLOW</a:t>
            </a:r>
            <a:endParaRPr lang="en-US" sz="1200" dirty="0"/>
          </a:p>
        </p:txBody>
      </p:sp>
      <p:sp>
        <p:nvSpPr>
          <p:cNvPr id="3" name="Text 0"/>
          <p:cNvSpPr/>
          <p:nvPr>
            <p:ph idx="100"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800" b="1" dirty="0">
                <a:solidFill>
                  <a:schemeClr val="tx1"/>
                </a:solidFill>
              </a:rPr>
              <a:t>End-to-End Modernization Workflow</a:t>
            </a:r>
            <a:endParaRPr lang="en-US" sz="2800" dirty="0"/>
          </a:p>
        </p:txBody>
      </p:sp>
      <p:sp>
        <p:nvSpPr>
          <p:cNvPr id="4" name="Text 2"/>
          <p:cNvSpPr txBox="1"/>
          <p:nvPr/>
        </p:nvSpPr>
        <p:spPr>
          <a:xfrm>
            <a:off x="548640" y="1298448"/>
            <a:ext cx="11091672" cy="320040"/>
          </a:xfrm>
          <a:prstGeom prst="rect">
            <a:avLst/>
          </a:prstGeom>
          <a:noFill/>
          <a:ln/>
        </p:spPr>
        <p:txBody>
          <a:bodyPr wrap="square" lIns="0" tIns="0" rIns="0" bIns="0" rtlCol="0" anchor="ctr"/>
          <a:lstStyle/>
          <a:p>
            <a:pPr indent="0" marL="0">
              <a:buNone/>
            </a:pPr>
            <a:r>
              <a:rPr lang="en-US" sz="1500" b="1" i="1" dirty="0">
                <a:solidFill>
                  <a:schemeClr val="accent6"/>
                </a:solidFill>
              </a:rPr>
              <a:t>Core principle:  Understand → Analyze → Verify → Plan → Modernize Safely</a:t>
            </a:r>
            <a:endParaRPr lang="en-US" sz="1500" dirty="0"/>
          </a:p>
        </p:txBody>
      </p:sp>
      <p:sp>
        <p:nvSpPr>
          <p:cNvPr id="5" name="Step card 1"/>
          <p:cNvSpPr/>
          <p:nvPr/>
        </p:nvSpPr>
        <p:spPr>
          <a:xfrm>
            <a:off x="548640" y="1783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6" name="Step badge 1"/>
          <p:cNvSpPr/>
          <p:nvPr/>
        </p:nvSpPr>
        <p:spPr>
          <a:xfrm>
            <a:off x="731520" y="1965960"/>
            <a:ext cx="411480" cy="411480"/>
          </a:xfrm>
          <a:prstGeom prst="ellipse">
            <a:avLst/>
          </a:prstGeom>
          <a:solidFill>
            <a:schemeClr val="tx1"/>
          </a:solidFill>
          <a:ln w="12700">
            <a:solidFill>
              <a:schemeClr val="tx1"/>
            </a:solidFill>
            <a:prstDash val="solid"/>
          </a:ln>
        </p:spPr>
      </p:sp>
      <p:sp>
        <p:nvSpPr>
          <p:cNvPr id="7" name="Text 5"/>
          <p:cNvSpPr txBox="1"/>
          <p:nvPr/>
        </p:nvSpPr>
        <p:spPr>
          <a:xfrm>
            <a:off x="731520"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6"/>
          <p:cNvSpPr txBox="1"/>
          <p:nvPr/>
        </p:nvSpPr>
        <p:spPr>
          <a:xfrm>
            <a:off x="1280160" y="1920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Source Ingestion</a:t>
            </a:r>
            <a:endParaRPr lang="en-US" sz="1500" dirty="0"/>
          </a:p>
        </p:txBody>
      </p:sp>
      <p:sp>
        <p:nvSpPr>
          <p:cNvPr id="9" name="Text 7"/>
          <p:cNvSpPr txBox="1"/>
          <p:nvPr/>
        </p:nvSpPr>
        <p:spPr>
          <a:xfrm>
            <a:off x="731520" y="2651760"/>
            <a:ext cx="2167128" cy="1234440"/>
          </a:xfrm>
          <a:prstGeom prst="rect">
            <a:avLst/>
          </a:prstGeom>
          <a:noFill/>
          <a:ln/>
        </p:spPr>
        <p:txBody>
          <a:bodyPr wrap="square" lIns="0" tIns="0" rIns="0" bIns="0" rtlCol="0" anchor="t"/>
          <a:lstStyle/>
          <a:p>
            <a:pPr indent="0" marL="0">
              <a:buNone/>
            </a:pPr>
            <a:r>
              <a:rPr lang="en-US" sz="1400" dirty="0">
                <a:solidFill>
                  <a:schemeClr val="tx2"/>
                </a:solidFill>
              </a:rPr>
              <a:t>Upload COBOL programs and supporting source files.</a:t>
            </a:r>
            <a:endParaRPr lang="en-US" sz="1400" dirty="0"/>
          </a:p>
        </p:txBody>
      </p:sp>
      <p:sp>
        <p:nvSpPr>
          <p:cNvPr id="10" name="Arrow 1"/>
          <p:cNvSpPr/>
          <p:nvPr/>
        </p:nvSpPr>
        <p:spPr>
          <a:xfrm>
            <a:off x="3118104" y="2834640"/>
            <a:ext cx="246888" cy="0"/>
          </a:xfrm>
          <a:prstGeom prst="line">
            <a:avLst/>
          </a:prstGeom>
          <a:noFill/>
          <a:ln w="22225">
            <a:solidFill>
              <a:srgbClr val="5B7FA6"/>
            </a:solidFill>
            <a:prstDash val="solid"/>
            <a:tailEnd type="triangle"/>
          </a:ln>
        </p:spPr>
      </p:sp>
      <p:sp>
        <p:nvSpPr>
          <p:cNvPr id="11" name="Step card 2"/>
          <p:cNvSpPr/>
          <p:nvPr/>
        </p:nvSpPr>
        <p:spPr>
          <a:xfrm>
            <a:off x="3401568" y="1783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2" name="Step badge 2"/>
          <p:cNvSpPr/>
          <p:nvPr/>
        </p:nvSpPr>
        <p:spPr>
          <a:xfrm>
            <a:off x="3584448" y="1965960"/>
            <a:ext cx="411480" cy="411480"/>
          </a:xfrm>
          <a:prstGeom prst="ellipse">
            <a:avLst/>
          </a:prstGeom>
          <a:solidFill>
            <a:schemeClr val="tx1"/>
          </a:solidFill>
          <a:ln w="12700">
            <a:solidFill>
              <a:schemeClr val="tx1"/>
            </a:solidFill>
            <a:prstDash val="solid"/>
          </a:ln>
        </p:spPr>
      </p:sp>
      <p:sp>
        <p:nvSpPr>
          <p:cNvPr id="13" name="Text 11"/>
          <p:cNvSpPr txBox="1"/>
          <p:nvPr/>
        </p:nvSpPr>
        <p:spPr>
          <a:xfrm>
            <a:off x="3584448"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 12"/>
          <p:cNvSpPr txBox="1"/>
          <p:nvPr/>
        </p:nvSpPr>
        <p:spPr>
          <a:xfrm>
            <a:off x="4133088" y="1920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Source Discovery &amp; Structural Analysis</a:t>
            </a:r>
            <a:endParaRPr lang="en-US" sz="1500" dirty="0"/>
          </a:p>
        </p:txBody>
      </p:sp>
      <p:sp>
        <p:nvSpPr>
          <p:cNvPr id="15" name="Text 13"/>
          <p:cNvSpPr txBox="1"/>
          <p:nvPr/>
        </p:nvSpPr>
        <p:spPr>
          <a:xfrm>
            <a:off x="3584448" y="2651760"/>
            <a:ext cx="2167128" cy="1234440"/>
          </a:xfrm>
          <a:prstGeom prst="rect">
            <a:avLst/>
          </a:prstGeom>
          <a:noFill/>
          <a:ln/>
        </p:spPr>
        <p:txBody>
          <a:bodyPr wrap="square" lIns="0" tIns="0" rIns="0" bIns="0" rtlCol="0" anchor="t"/>
          <a:lstStyle/>
          <a:p>
            <a:pPr indent="0" marL="0">
              <a:buNone/>
            </a:pPr>
            <a:r>
              <a:rPr lang="en-US" sz="1400" dirty="0">
                <a:solidFill>
                  <a:schemeClr val="tx2"/>
                </a:solidFill>
              </a:rPr>
              <a:t>Identify program structure, data definitions, variables, and execution flow.</a:t>
            </a:r>
            <a:endParaRPr lang="en-US" sz="1400" dirty="0"/>
          </a:p>
        </p:txBody>
      </p:sp>
      <p:sp>
        <p:nvSpPr>
          <p:cNvPr id="16" name="Arrow 2"/>
          <p:cNvSpPr/>
          <p:nvPr/>
        </p:nvSpPr>
        <p:spPr>
          <a:xfrm>
            <a:off x="5971032" y="2834640"/>
            <a:ext cx="246888" cy="0"/>
          </a:xfrm>
          <a:prstGeom prst="line">
            <a:avLst/>
          </a:prstGeom>
          <a:noFill/>
          <a:ln w="22225">
            <a:solidFill>
              <a:srgbClr val="5B7FA6"/>
            </a:solidFill>
            <a:prstDash val="solid"/>
            <a:tailEnd type="triangle"/>
          </a:ln>
        </p:spPr>
      </p:sp>
      <p:sp>
        <p:nvSpPr>
          <p:cNvPr id="17" name="Step card 3"/>
          <p:cNvSpPr/>
          <p:nvPr/>
        </p:nvSpPr>
        <p:spPr>
          <a:xfrm>
            <a:off x="6254496" y="1783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8" name="Step badge 3"/>
          <p:cNvSpPr/>
          <p:nvPr/>
        </p:nvSpPr>
        <p:spPr>
          <a:xfrm>
            <a:off x="6437376" y="1965960"/>
            <a:ext cx="411480" cy="411480"/>
          </a:xfrm>
          <a:prstGeom prst="ellipse">
            <a:avLst/>
          </a:prstGeom>
          <a:solidFill>
            <a:schemeClr val="tx1"/>
          </a:solidFill>
          <a:ln w="12700">
            <a:solidFill>
              <a:schemeClr val="tx1"/>
            </a:solidFill>
            <a:prstDash val="solid"/>
          </a:ln>
        </p:spPr>
      </p:sp>
      <p:sp>
        <p:nvSpPr>
          <p:cNvPr id="19" name="Text 17"/>
          <p:cNvSpPr txBox="1"/>
          <p:nvPr/>
        </p:nvSpPr>
        <p:spPr>
          <a:xfrm>
            <a:off x="6437376"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8"/>
          <p:cNvSpPr txBox="1"/>
          <p:nvPr/>
        </p:nvSpPr>
        <p:spPr>
          <a:xfrm>
            <a:off x="6986016" y="1920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Business Rule Extraction</a:t>
            </a:r>
            <a:endParaRPr lang="en-US" sz="1500" dirty="0"/>
          </a:p>
        </p:txBody>
      </p:sp>
      <p:sp>
        <p:nvSpPr>
          <p:cNvPr id="21" name="Text 19"/>
          <p:cNvSpPr txBox="1"/>
          <p:nvPr/>
        </p:nvSpPr>
        <p:spPr>
          <a:xfrm>
            <a:off x="6437376" y="2651760"/>
            <a:ext cx="2167128" cy="1234440"/>
          </a:xfrm>
          <a:prstGeom prst="rect">
            <a:avLst/>
          </a:prstGeom>
          <a:noFill/>
          <a:ln/>
        </p:spPr>
        <p:txBody>
          <a:bodyPr wrap="square" lIns="0" tIns="0" rIns="0" bIns="0" rtlCol="0" anchor="t"/>
          <a:lstStyle/>
          <a:p>
            <a:pPr indent="0" marL="0">
              <a:buNone/>
            </a:pPr>
            <a:r>
              <a:rPr lang="en-US" sz="1400" dirty="0">
                <a:solidFill>
                  <a:schemeClr val="tx2"/>
                </a:solidFill>
              </a:rPr>
              <a:t>Identify transaction operations and business logic from the COBOL source.</a:t>
            </a:r>
            <a:endParaRPr lang="en-US" sz="1400" dirty="0"/>
          </a:p>
        </p:txBody>
      </p:sp>
      <p:sp>
        <p:nvSpPr>
          <p:cNvPr id="22" name="Arrow 3"/>
          <p:cNvSpPr/>
          <p:nvPr/>
        </p:nvSpPr>
        <p:spPr>
          <a:xfrm>
            <a:off x="8823960" y="2834640"/>
            <a:ext cx="246888" cy="0"/>
          </a:xfrm>
          <a:prstGeom prst="line">
            <a:avLst/>
          </a:prstGeom>
          <a:noFill/>
          <a:ln w="22225">
            <a:solidFill>
              <a:srgbClr val="5B7FA6"/>
            </a:solidFill>
            <a:prstDash val="solid"/>
            <a:tailEnd type="triangle"/>
          </a:ln>
        </p:spPr>
      </p:sp>
      <p:sp>
        <p:nvSpPr>
          <p:cNvPr id="23" name="Step card 4"/>
          <p:cNvSpPr/>
          <p:nvPr/>
        </p:nvSpPr>
        <p:spPr>
          <a:xfrm>
            <a:off x="9107424" y="1783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4" name="Step badge 4"/>
          <p:cNvSpPr/>
          <p:nvPr/>
        </p:nvSpPr>
        <p:spPr>
          <a:xfrm>
            <a:off x="9290304" y="1965960"/>
            <a:ext cx="411480" cy="411480"/>
          </a:xfrm>
          <a:prstGeom prst="ellipse">
            <a:avLst/>
          </a:prstGeom>
          <a:solidFill>
            <a:schemeClr val="tx1"/>
          </a:solidFill>
          <a:ln w="12700">
            <a:solidFill>
              <a:schemeClr val="tx1"/>
            </a:solidFill>
            <a:prstDash val="solid"/>
          </a:ln>
        </p:spPr>
      </p:sp>
      <p:sp>
        <p:nvSpPr>
          <p:cNvPr id="25" name="Text 23"/>
          <p:cNvSpPr txBox="1"/>
          <p:nvPr/>
        </p:nvSpPr>
        <p:spPr>
          <a:xfrm>
            <a:off x="9290304"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6" name="Text 24"/>
          <p:cNvSpPr txBox="1"/>
          <p:nvPr/>
        </p:nvSpPr>
        <p:spPr>
          <a:xfrm>
            <a:off x="9838944" y="1920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Dependency &amp; Impact Analysis</a:t>
            </a:r>
            <a:endParaRPr lang="en-US" sz="1500" dirty="0"/>
          </a:p>
        </p:txBody>
      </p:sp>
      <p:sp>
        <p:nvSpPr>
          <p:cNvPr id="27" name="Text 25"/>
          <p:cNvSpPr txBox="1"/>
          <p:nvPr/>
        </p:nvSpPr>
        <p:spPr>
          <a:xfrm>
            <a:off x="9290304" y="2651760"/>
            <a:ext cx="2167128" cy="1234440"/>
          </a:xfrm>
          <a:prstGeom prst="rect">
            <a:avLst/>
          </a:prstGeom>
          <a:noFill/>
          <a:ln/>
        </p:spPr>
        <p:txBody>
          <a:bodyPr wrap="square" lIns="0" tIns="0" rIns="0" bIns="0" rtlCol="0" anchor="t"/>
          <a:lstStyle/>
          <a:p>
            <a:pPr indent="0" marL="0">
              <a:buNone/>
            </a:pPr>
            <a:r>
              <a:rPr lang="en-US" sz="1400" dirty="0">
                <a:solidFill>
                  <a:schemeClr val="tx2"/>
                </a:solidFill>
              </a:rPr>
              <a:t>Map relationships between program routines, data, and file operations.</a:t>
            </a:r>
            <a:endParaRPr lang="en-US" sz="1400" dirty="0"/>
          </a:p>
        </p:txBody>
      </p:sp>
      <p:sp>
        <p:nvSpPr>
          <p:cNvPr id="28" name="Step card 5"/>
          <p:cNvSpPr/>
          <p:nvPr/>
        </p:nvSpPr>
        <p:spPr>
          <a:xfrm>
            <a:off x="548640" y="4069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9" name="Step badge 5"/>
          <p:cNvSpPr/>
          <p:nvPr/>
        </p:nvSpPr>
        <p:spPr>
          <a:xfrm>
            <a:off x="731520" y="4251960"/>
            <a:ext cx="411480" cy="411480"/>
          </a:xfrm>
          <a:prstGeom prst="ellipse">
            <a:avLst/>
          </a:prstGeom>
          <a:solidFill>
            <a:schemeClr val="tx1"/>
          </a:solidFill>
          <a:ln w="12700">
            <a:solidFill>
              <a:schemeClr val="tx1"/>
            </a:solidFill>
            <a:prstDash val="solid"/>
          </a:ln>
        </p:spPr>
      </p:sp>
      <p:sp>
        <p:nvSpPr>
          <p:cNvPr id="30" name="Text 28"/>
          <p:cNvSpPr txBox="1"/>
          <p:nvPr/>
        </p:nvSpPr>
        <p:spPr>
          <a:xfrm>
            <a:off x="731520" y="4251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1" name="Text 29"/>
          <p:cNvSpPr txBox="1"/>
          <p:nvPr/>
        </p:nvSpPr>
        <p:spPr>
          <a:xfrm>
            <a:off x="1280160" y="4206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Evidence Verification</a:t>
            </a:r>
            <a:endParaRPr lang="en-US" sz="1500" dirty="0"/>
          </a:p>
        </p:txBody>
      </p:sp>
      <p:sp>
        <p:nvSpPr>
          <p:cNvPr id="32" name="Text 30"/>
          <p:cNvSpPr txBox="1"/>
          <p:nvPr/>
        </p:nvSpPr>
        <p:spPr>
          <a:xfrm>
            <a:off x="731520" y="4937760"/>
            <a:ext cx="2167128" cy="1234440"/>
          </a:xfrm>
          <a:prstGeom prst="rect">
            <a:avLst/>
          </a:prstGeom>
          <a:noFill/>
          <a:ln/>
        </p:spPr>
        <p:txBody>
          <a:bodyPr wrap="square" lIns="0" tIns="0" rIns="0" bIns="0" rtlCol="0" anchor="t"/>
          <a:lstStyle/>
          <a:p>
            <a:pPr indent="0" marL="0">
              <a:buNone/>
            </a:pPr>
            <a:r>
              <a:rPr lang="en-US" sz="1400" dirty="0">
                <a:solidFill>
                  <a:schemeClr val="tx2"/>
                </a:solidFill>
              </a:rPr>
              <a:t>Compare identified rules with business requirements and incident evidence. Flag conflicts for human validation.</a:t>
            </a:r>
            <a:endParaRPr lang="en-US" sz="1400" dirty="0"/>
          </a:p>
        </p:txBody>
      </p:sp>
      <p:sp>
        <p:nvSpPr>
          <p:cNvPr id="33" name="Arrow 5"/>
          <p:cNvSpPr/>
          <p:nvPr/>
        </p:nvSpPr>
        <p:spPr>
          <a:xfrm>
            <a:off x="3118104" y="5120640"/>
            <a:ext cx="246888" cy="0"/>
          </a:xfrm>
          <a:prstGeom prst="line">
            <a:avLst/>
          </a:prstGeom>
          <a:noFill/>
          <a:ln w="22225">
            <a:solidFill>
              <a:srgbClr val="5B7FA6"/>
            </a:solidFill>
            <a:prstDash val="solid"/>
            <a:tailEnd type="triangle"/>
          </a:ln>
        </p:spPr>
      </p:sp>
      <p:sp>
        <p:nvSpPr>
          <p:cNvPr id="34" name="Step card 6"/>
          <p:cNvSpPr/>
          <p:nvPr/>
        </p:nvSpPr>
        <p:spPr>
          <a:xfrm>
            <a:off x="3401568" y="4069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35" name="Step badge 6"/>
          <p:cNvSpPr/>
          <p:nvPr/>
        </p:nvSpPr>
        <p:spPr>
          <a:xfrm>
            <a:off x="3584448" y="4251960"/>
            <a:ext cx="411480" cy="411480"/>
          </a:xfrm>
          <a:prstGeom prst="ellipse">
            <a:avLst/>
          </a:prstGeom>
          <a:solidFill>
            <a:schemeClr val="tx1"/>
          </a:solidFill>
          <a:ln w="12700">
            <a:solidFill>
              <a:schemeClr val="tx1"/>
            </a:solidFill>
            <a:prstDash val="solid"/>
          </a:ln>
        </p:spPr>
      </p:sp>
      <p:sp>
        <p:nvSpPr>
          <p:cNvPr id="36" name="Text 34"/>
          <p:cNvSpPr txBox="1"/>
          <p:nvPr/>
        </p:nvSpPr>
        <p:spPr>
          <a:xfrm>
            <a:off x="3584448" y="4251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7" name="Text 35"/>
          <p:cNvSpPr txBox="1"/>
          <p:nvPr/>
        </p:nvSpPr>
        <p:spPr>
          <a:xfrm>
            <a:off x="4133088" y="4206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Modernization Decision</a:t>
            </a:r>
            <a:endParaRPr lang="en-US" sz="1500" dirty="0"/>
          </a:p>
        </p:txBody>
      </p:sp>
      <p:sp>
        <p:nvSpPr>
          <p:cNvPr id="38" name="Text 36"/>
          <p:cNvSpPr txBox="1"/>
          <p:nvPr/>
        </p:nvSpPr>
        <p:spPr>
          <a:xfrm>
            <a:off x="3584448" y="4937760"/>
            <a:ext cx="2167128" cy="1234440"/>
          </a:xfrm>
          <a:prstGeom prst="rect">
            <a:avLst/>
          </a:prstGeom>
          <a:noFill/>
          <a:ln/>
        </p:spPr>
        <p:txBody>
          <a:bodyPr wrap="square" lIns="0" tIns="0" rIns="0" bIns="0" rtlCol="0" anchor="t"/>
          <a:lstStyle/>
          <a:p>
            <a:pPr indent="0" marL="0">
              <a:buNone/>
            </a:pPr>
            <a:r>
              <a:rPr lang="en-US" sz="1400" dirty="0">
                <a:solidFill>
                  <a:schemeClr val="tx2"/>
                </a:solidFill>
              </a:rPr>
              <a:t>Evaluate the 4R strategies: Rehost, Replatform, Refactor, and Replace.</a:t>
            </a:r>
            <a:endParaRPr lang="en-US" sz="1400" dirty="0"/>
          </a:p>
        </p:txBody>
      </p:sp>
      <p:sp>
        <p:nvSpPr>
          <p:cNvPr id="39" name="Arrow 6"/>
          <p:cNvSpPr/>
          <p:nvPr/>
        </p:nvSpPr>
        <p:spPr>
          <a:xfrm>
            <a:off x="5971032" y="5120640"/>
            <a:ext cx="246888" cy="0"/>
          </a:xfrm>
          <a:prstGeom prst="line">
            <a:avLst/>
          </a:prstGeom>
          <a:noFill/>
          <a:ln w="22225">
            <a:solidFill>
              <a:srgbClr val="5B7FA6"/>
            </a:solidFill>
            <a:prstDash val="solid"/>
            <a:tailEnd type="triangle"/>
          </a:ln>
        </p:spPr>
      </p:sp>
      <p:sp>
        <p:nvSpPr>
          <p:cNvPr id="40" name="Step card 7"/>
          <p:cNvSpPr/>
          <p:nvPr/>
        </p:nvSpPr>
        <p:spPr>
          <a:xfrm>
            <a:off x="6254496" y="4069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1" name="Step badge 7"/>
          <p:cNvSpPr/>
          <p:nvPr/>
        </p:nvSpPr>
        <p:spPr>
          <a:xfrm>
            <a:off x="6437376" y="4251960"/>
            <a:ext cx="411480" cy="411480"/>
          </a:xfrm>
          <a:prstGeom prst="ellipse">
            <a:avLst/>
          </a:prstGeom>
          <a:solidFill>
            <a:schemeClr val="tx1"/>
          </a:solidFill>
          <a:ln w="12700">
            <a:solidFill>
              <a:schemeClr val="tx1"/>
            </a:solidFill>
            <a:prstDash val="solid"/>
          </a:ln>
        </p:spPr>
      </p:sp>
      <p:sp>
        <p:nvSpPr>
          <p:cNvPr id="42" name="Text 40"/>
          <p:cNvSpPr txBox="1"/>
          <p:nvPr/>
        </p:nvSpPr>
        <p:spPr>
          <a:xfrm>
            <a:off x="6437376" y="4251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43" name="Text 41"/>
          <p:cNvSpPr txBox="1"/>
          <p:nvPr/>
        </p:nvSpPr>
        <p:spPr>
          <a:xfrm>
            <a:off x="6986016" y="4206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Migration Planning</a:t>
            </a:r>
            <a:endParaRPr lang="en-US" sz="1500" dirty="0"/>
          </a:p>
        </p:txBody>
      </p:sp>
      <p:sp>
        <p:nvSpPr>
          <p:cNvPr id="44" name="Text 42"/>
          <p:cNvSpPr txBox="1"/>
          <p:nvPr/>
        </p:nvSpPr>
        <p:spPr>
          <a:xfrm>
            <a:off x="6437376" y="4937760"/>
            <a:ext cx="2167128" cy="1234440"/>
          </a:xfrm>
          <a:prstGeom prst="rect">
            <a:avLst/>
          </a:prstGeom>
          <a:noFill/>
          <a:ln/>
        </p:spPr>
        <p:txBody>
          <a:bodyPr wrap="square" lIns="0" tIns="0" rIns="0" bIns="0" rtlCol="0" anchor="t"/>
          <a:lstStyle/>
          <a:p>
            <a:pPr indent="0" marL="0">
              <a:buNone/>
            </a:pPr>
            <a:r>
              <a:rPr lang="en-US" sz="1400" dirty="0">
                <a:solidFill>
                  <a:schemeClr val="tx2"/>
                </a:solidFill>
              </a:rPr>
              <a:t>Prepare a phased modernization roadmap targeting Java 21 and Spring Boot 3.x.</a:t>
            </a:r>
            <a:endParaRPr lang="en-US" sz="1400" dirty="0"/>
          </a:p>
        </p:txBody>
      </p:sp>
      <p:sp>
        <p:nvSpPr>
          <p:cNvPr id="45" name="Arrow 7"/>
          <p:cNvSpPr/>
          <p:nvPr/>
        </p:nvSpPr>
        <p:spPr>
          <a:xfrm>
            <a:off x="8823960" y="5120640"/>
            <a:ext cx="246888" cy="0"/>
          </a:xfrm>
          <a:prstGeom prst="line">
            <a:avLst/>
          </a:prstGeom>
          <a:noFill/>
          <a:ln w="22225">
            <a:solidFill>
              <a:srgbClr val="5B7FA6"/>
            </a:solidFill>
            <a:prstDash val="solid"/>
            <a:tailEnd type="triangle"/>
          </a:ln>
        </p:spPr>
      </p:sp>
      <p:sp>
        <p:nvSpPr>
          <p:cNvPr id="46" name="Step card 8"/>
          <p:cNvSpPr/>
          <p:nvPr/>
        </p:nvSpPr>
        <p:spPr>
          <a:xfrm>
            <a:off x="9107424" y="4069080"/>
            <a:ext cx="2532888"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7" name="Step badge 8"/>
          <p:cNvSpPr/>
          <p:nvPr/>
        </p:nvSpPr>
        <p:spPr>
          <a:xfrm>
            <a:off x="9290304" y="4251960"/>
            <a:ext cx="411480" cy="411480"/>
          </a:xfrm>
          <a:prstGeom prst="ellipse">
            <a:avLst/>
          </a:prstGeom>
          <a:solidFill>
            <a:srgbClr val="1FB5A6"/>
          </a:solidFill>
          <a:ln w="12700">
            <a:solidFill>
              <a:srgbClr val="1FB5A6"/>
            </a:solidFill>
            <a:prstDash val="solid"/>
          </a:ln>
        </p:spPr>
      </p:sp>
      <p:sp>
        <p:nvSpPr>
          <p:cNvPr id="48" name="Text 46"/>
          <p:cNvSpPr txBox="1"/>
          <p:nvPr/>
        </p:nvSpPr>
        <p:spPr>
          <a:xfrm>
            <a:off x="9290304" y="4251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49" name="Text 47"/>
          <p:cNvSpPr txBox="1"/>
          <p:nvPr/>
        </p:nvSpPr>
        <p:spPr>
          <a:xfrm>
            <a:off x="9838944" y="4206240"/>
            <a:ext cx="1664208" cy="685800"/>
          </a:xfrm>
          <a:prstGeom prst="rect">
            <a:avLst/>
          </a:prstGeom>
          <a:noFill/>
          <a:ln/>
        </p:spPr>
        <p:txBody>
          <a:bodyPr wrap="square" lIns="0" tIns="0" rIns="0" bIns="0" rtlCol="0" anchor="ctr"/>
          <a:lstStyle/>
          <a:p>
            <a:pPr indent="0" marL="0">
              <a:buNone/>
            </a:pPr>
            <a:r>
              <a:rPr lang="en-US" sz="1500" b="1" dirty="0">
                <a:solidFill>
                  <a:schemeClr val="tx1"/>
                </a:solidFill>
              </a:rPr>
              <a:t>Regression &amp; Verification Planning</a:t>
            </a:r>
            <a:endParaRPr lang="en-US" sz="1500" dirty="0"/>
          </a:p>
        </p:txBody>
      </p:sp>
      <p:sp>
        <p:nvSpPr>
          <p:cNvPr id="50" name="Text 48"/>
          <p:cNvSpPr txBox="1"/>
          <p:nvPr/>
        </p:nvSpPr>
        <p:spPr>
          <a:xfrm>
            <a:off x="9290304" y="4937760"/>
            <a:ext cx="2167128" cy="1234440"/>
          </a:xfrm>
          <a:prstGeom prst="rect">
            <a:avLst/>
          </a:prstGeom>
          <a:noFill/>
          <a:ln/>
        </p:spPr>
        <p:txBody>
          <a:bodyPr wrap="square" lIns="0" tIns="0" rIns="0" bIns="0" rtlCol="0" anchor="t"/>
          <a:lstStyle/>
          <a:p>
            <a:pPr indent="0" marL="0">
              <a:buNone/>
            </a:pPr>
            <a:r>
              <a:rPr lang="en-US" sz="1400" dirty="0">
                <a:solidFill>
                  <a:schemeClr val="tx2"/>
                </a:solidFill>
              </a:rPr>
              <a:t>Define test scenarios to preserve existing business behaviour before migration sign-off.</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LEGACYIQ  ·  SYSTEM ARCHITECTURE</a:t>
            </a:r>
            <a:endParaRPr lang="en-US" sz="1200" dirty="0"/>
          </a:p>
        </p:txBody>
      </p:sp>
      <p:sp>
        <p:nvSpPr>
          <p:cNvPr id="3" name="Text 0"/>
          <p:cNvSpPr/>
          <p:nvPr>
            <p:ph idx="100"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800" b="1" dirty="0">
                <a:solidFill>
                  <a:schemeClr val="tx1"/>
                </a:solidFill>
              </a:rPr>
              <a:t>System Architecture: Technologies Used</a:t>
            </a:r>
            <a:endParaRPr lang="en-US" sz="2800" dirty="0"/>
          </a:p>
        </p:txBody>
      </p:sp>
      <p:sp>
        <p:nvSpPr>
          <p:cNvPr id="4" name="Flow chip 1"/>
          <p:cNvSpPr/>
          <p:nvPr/>
        </p:nvSpPr>
        <p:spPr>
          <a:xfrm>
            <a:off x="548640" y="1325880"/>
            <a:ext cx="1998878" cy="457200"/>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640080" y="1325880"/>
            <a:ext cx="1815998" cy="457200"/>
          </a:xfrm>
          <a:prstGeom prst="rect">
            <a:avLst/>
          </a:prstGeom>
          <a:noFill/>
          <a:ln/>
        </p:spPr>
        <p:txBody>
          <a:bodyPr wrap="square" lIns="0" tIns="0" rIns="0" bIns="0" rtlCol="0" anchor="ctr"/>
          <a:lstStyle/>
          <a:p>
            <a:pPr algn="ctr" indent="0" marL="0">
              <a:buNone/>
            </a:pPr>
            <a:r>
              <a:rPr lang="en-US" sz="1200" b="1" dirty="0">
                <a:solidFill>
                  <a:schemeClr val="bg1"/>
                </a:solidFill>
              </a:rPr>
              <a:t>React.js + Tailwind CSS</a:t>
            </a:r>
            <a:endParaRPr lang="en-US" sz="1200" dirty="0"/>
          </a:p>
        </p:txBody>
      </p:sp>
      <p:sp>
        <p:nvSpPr>
          <p:cNvPr id="6" name="Flow arrow 1"/>
          <p:cNvSpPr/>
          <p:nvPr/>
        </p:nvSpPr>
        <p:spPr>
          <a:xfrm>
            <a:off x="2584094" y="1554480"/>
            <a:ext cx="201168" cy="0"/>
          </a:xfrm>
          <a:prstGeom prst="line">
            <a:avLst/>
          </a:prstGeom>
          <a:noFill/>
          <a:ln w="31750">
            <a:solidFill>
              <a:srgbClr val="F2A33A"/>
            </a:solidFill>
            <a:prstDash val="solid"/>
            <a:tailEnd type="triangle"/>
          </a:ln>
        </p:spPr>
      </p:sp>
      <p:sp>
        <p:nvSpPr>
          <p:cNvPr id="7" name="Flow chip 2"/>
          <p:cNvSpPr/>
          <p:nvPr/>
        </p:nvSpPr>
        <p:spPr>
          <a:xfrm>
            <a:off x="2821838" y="1325880"/>
            <a:ext cx="1998878" cy="457200"/>
          </a:xfrm>
          <a:prstGeom prst="roundRect">
            <a:avLst>
              <a:gd name="adj" fmla="val 50000"/>
            </a:avLst>
          </a:prstGeom>
          <a:solidFill>
            <a:schemeClr val="tx1"/>
          </a:solidFill>
          <a:ln w="12700">
            <a:solidFill>
              <a:schemeClr val="tx1"/>
            </a:solidFill>
            <a:prstDash val="solid"/>
          </a:ln>
        </p:spPr>
      </p:sp>
      <p:sp>
        <p:nvSpPr>
          <p:cNvPr id="8" name="Text 6"/>
          <p:cNvSpPr txBox="1"/>
          <p:nvPr/>
        </p:nvSpPr>
        <p:spPr>
          <a:xfrm>
            <a:off x="2913278" y="1325880"/>
            <a:ext cx="1815998" cy="457200"/>
          </a:xfrm>
          <a:prstGeom prst="rect">
            <a:avLst/>
          </a:prstGeom>
          <a:noFill/>
          <a:ln/>
        </p:spPr>
        <p:txBody>
          <a:bodyPr wrap="square" lIns="0" tIns="0" rIns="0" bIns="0" rtlCol="0" anchor="ctr"/>
          <a:lstStyle/>
          <a:p>
            <a:pPr algn="ctr" indent="0" marL="0">
              <a:buNone/>
            </a:pPr>
            <a:r>
              <a:rPr lang="en-US" sz="1200" b="1" dirty="0">
                <a:solidFill>
                  <a:schemeClr val="bg1"/>
                </a:solidFill>
              </a:rPr>
              <a:t>FastAPI Backend</a:t>
            </a:r>
            <a:endParaRPr lang="en-US" sz="1200" dirty="0"/>
          </a:p>
        </p:txBody>
      </p:sp>
      <p:sp>
        <p:nvSpPr>
          <p:cNvPr id="9" name="Flow arrow 2"/>
          <p:cNvSpPr/>
          <p:nvPr/>
        </p:nvSpPr>
        <p:spPr>
          <a:xfrm>
            <a:off x="4857293" y="1554480"/>
            <a:ext cx="201168" cy="0"/>
          </a:xfrm>
          <a:prstGeom prst="line">
            <a:avLst/>
          </a:prstGeom>
          <a:noFill/>
          <a:ln w="31750">
            <a:solidFill>
              <a:srgbClr val="F2A33A"/>
            </a:solidFill>
            <a:prstDash val="solid"/>
            <a:tailEnd type="triangle"/>
          </a:ln>
        </p:spPr>
      </p:sp>
      <p:sp>
        <p:nvSpPr>
          <p:cNvPr id="10" name="Flow chip 3"/>
          <p:cNvSpPr/>
          <p:nvPr/>
        </p:nvSpPr>
        <p:spPr>
          <a:xfrm>
            <a:off x="5095037" y="1325880"/>
            <a:ext cx="1998878" cy="457200"/>
          </a:xfrm>
          <a:prstGeom prst="roundRect">
            <a:avLst>
              <a:gd name="adj" fmla="val 50000"/>
            </a:avLst>
          </a:prstGeom>
          <a:solidFill>
            <a:schemeClr val="tx1"/>
          </a:solidFill>
          <a:ln w="12700">
            <a:solidFill>
              <a:schemeClr val="tx1"/>
            </a:solidFill>
            <a:prstDash val="solid"/>
          </a:ln>
        </p:spPr>
      </p:sp>
      <p:sp>
        <p:nvSpPr>
          <p:cNvPr id="11" name="Text 9"/>
          <p:cNvSpPr txBox="1"/>
          <p:nvPr/>
        </p:nvSpPr>
        <p:spPr>
          <a:xfrm>
            <a:off x="5186477" y="1325880"/>
            <a:ext cx="1815998" cy="457200"/>
          </a:xfrm>
          <a:prstGeom prst="rect">
            <a:avLst/>
          </a:prstGeom>
          <a:noFill/>
          <a:ln/>
        </p:spPr>
        <p:txBody>
          <a:bodyPr wrap="square" lIns="0" tIns="0" rIns="0" bIns="0" rtlCol="0" anchor="ctr"/>
          <a:lstStyle/>
          <a:p>
            <a:pPr algn="ctr" indent="0" marL="0">
              <a:buNone/>
            </a:pPr>
            <a:r>
              <a:rPr lang="en-US" sz="1200" b="1" dirty="0">
                <a:solidFill>
                  <a:schemeClr val="bg1"/>
                </a:solidFill>
              </a:rPr>
              <a:t>Python Analysis Engine</a:t>
            </a:r>
            <a:endParaRPr lang="en-US" sz="1200" dirty="0"/>
          </a:p>
        </p:txBody>
      </p:sp>
      <p:sp>
        <p:nvSpPr>
          <p:cNvPr id="12" name="Flow arrow 3"/>
          <p:cNvSpPr/>
          <p:nvPr/>
        </p:nvSpPr>
        <p:spPr>
          <a:xfrm>
            <a:off x="7130491" y="1554480"/>
            <a:ext cx="201168" cy="0"/>
          </a:xfrm>
          <a:prstGeom prst="line">
            <a:avLst/>
          </a:prstGeom>
          <a:noFill/>
          <a:ln w="31750">
            <a:solidFill>
              <a:srgbClr val="F2A33A"/>
            </a:solidFill>
            <a:prstDash val="solid"/>
            <a:tailEnd type="triangle"/>
          </a:ln>
        </p:spPr>
      </p:sp>
      <p:sp>
        <p:nvSpPr>
          <p:cNvPr id="13" name="Flow chip 4"/>
          <p:cNvSpPr/>
          <p:nvPr/>
        </p:nvSpPr>
        <p:spPr>
          <a:xfrm>
            <a:off x="7368235" y="1325880"/>
            <a:ext cx="1998878" cy="457200"/>
          </a:xfrm>
          <a:prstGeom prst="roundRect">
            <a:avLst>
              <a:gd name="adj" fmla="val 50000"/>
            </a:avLst>
          </a:prstGeom>
          <a:solidFill>
            <a:schemeClr val="tx1"/>
          </a:solidFill>
          <a:ln w="12700">
            <a:solidFill>
              <a:schemeClr val="tx1"/>
            </a:solidFill>
            <a:prstDash val="solid"/>
          </a:ln>
        </p:spPr>
      </p:sp>
      <p:sp>
        <p:nvSpPr>
          <p:cNvPr id="14" name="Text 12"/>
          <p:cNvSpPr txBox="1"/>
          <p:nvPr/>
        </p:nvSpPr>
        <p:spPr>
          <a:xfrm>
            <a:off x="7459675" y="1325880"/>
            <a:ext cx="1815998" cy="457200"/>
          </a:xfrm>
          <a:prstGeom prst="rect">
            <a:avLst/>
          </a:prstGeom>
          <a:noFill/>
          <a:ln/>
        </p:spPr>
        <p:txBody>
          <a:bodyPr wrap="square" lIns="0" tIns="0" rIns="0" bIns="0" rtlCol="0" anchor="ctr"/>
          <a:lstStyle/>
          <a:p>
            <a:pPr algn="ctr" indent="0" marL="0">
              <a:buNone/>
            </a:pPr>
            <a:r>
              <a:rPr lang="en-US" sz="1200" b="1" dirty="0">
                <a:solidFill>
                  <a:schemeClr val="bg1"/>
                </a:solidFill>
              </a:rPr>
              <a:t>Evidence &amp; Risk Intelligence</a:t>
            </a:r>
            <a:endParaRPr lang="en-US" sz="1200" dirty="0"/>
          </a:p>
        </p:txBody>
      </p:sp>
      <p:sp>
        <p:nvSpPr>
          <p:cNvPr id="15" name="Flow arrow 4"/>
          <p:cNvSpPr/>
          <p:nvPr/>
        </p:nvSpPr>
        <p:spPr>
          <a:xfrm>
            <a:off x="9403690" y="1554480"/>
            <a:ext cx="201168" cy="0"/>
          </a:xfrm>
          <a:prstGeom prst="line">
            <a:avLst/>
          </a:prstGeom>
          <a:noFill/>
          <a:ln w="31750">
            <a:solidFill>
              <a:srgbClr val="F2A33A"/>
            </a:solidFill>
            <a:prstDash val="solid"/>
            <a:tailEnd type="triangle"/>
          </a:ln>
        </p:spPr>
      </p:sp>
      <p:sp>
        <p:nvSpPr>
          <p:cNvPr id="16" name="Flow chip 5"/>
          <p:cNvSpPr/>
          <p:nvPr/>
        </p:nvSpPr>
        <p:spPr>
          <a:xfrm>
            <a:off x="9641434" y="1325880"/>
            <a:ext cx="1998878" cy="457200"/>
          </a:xfrm>
          <a:prstGeom prst="roundRect">
            <a:avLst>
              <a:gd name="adj" fmla="val 50000"/>
            </a:avLst>
          </a:prstGeom>
          <a:solidFill>
            <a:srgbClr val="1FB5A6"/>
          </a:solidFill>
          <a:ln w="12700">
            <a:solidFill>
              <a:srgbClr val="1FB5A6"/>
            </a:solidFill>
            <a:prstDash val="solid"/>
          </a:ln>
        </p:spPr>
      </p:sp>
      <p:sp>
        <p:nvSpPr>
          <p:cNvPr id="17" name="Text 15"/>
          <p:cNvSpPr txBox="1"/>
          <p:nvPr/>
        </p:nvSpPr>
        <p:spPr>
          <a:xfrm>
            <a:off x="9732874" y="1325880"/>
            <a:ext cx="1815998" cy="457200"/>
          </a:xfrm>
          <a:prstGeom prst="rect">
            <a:avLst/>
          </a:prstGeom>
          <a:noFill/>
          <a:ln/>
        </p:spPr>
        <p:txBody>
          <a:bodyPr wrap="square" lIns="0" tIns="0" rIns="0" bIns="0" rtlCol="0" anchor="ctr"/>
          <a:lstStyle/>
          <a:p>
            <a:pPr algn="ctr" indent="0" marL="0">
              <a:buNone/>
            </a:pPr>
            <a:r>
              <a:rPr lang="en-US" sz="1200" b="1" dirty="0">
                <a:solidFill>
                  <a:schemeClr val="tx1"/>
                </a:solidFill>
              </a:rPr>
              <a:t>Modernization Report</a:t>
            </a:r>
            <a:endParaRPr lang="en-US" sz="1200" dirty="0"/>
          </a:p>
        </p:txBody>
      </p:sp>
      <p:sp>
        <p:nvSpPr>
          <p:cNvPr id="18" name="Row label 1"/>
          <p:cNvSpPr/>
          <p:nvPr/>
        </p:nvSpPr>
        <p:spPr>
          <a:xfrm>
            <a:off x="548640" y="1965960"/>
            <a:ext cx="1600200" cy="868680"/>
          </a:xfrm>
          <a:prstGeom prst="roundRect">
            <a:avLst>
              <a:gd name="adj" fmla="val 8421"/>
            </a:avLst>
          </a:prstGeom>
          <a:solidFill>
            <a:schemeClr val="tx1"/>
          </a:solidFill>
          <a:ln w="12700">
            <a:solidFill>
              <a:schemeClr val="tx1"/>
            </a:solidFill>
            <a:prstDash val="solid"/>
          </a:ln>
          <a:effectLst>
            <a:outerShdw sx="100000" sy="100000" kx="0" ky="0" algn="bl" rotWithShape="0" blurRad="76200" dist="25400" dir="5400000">
              <a:srgbClr val="000000">
                <a:alpha val="18000"/>
              </a:srgbClr>
            </a:outerShdw>
          </a:effectLst>
        </p:spPr>
      </p:sp>
      <p:sp>
        <p:nvSpPr>
          <p:cNvPr id="19" name="Text 17"/>
          <p:cNvSpPr txBox="1"/>
          <p:nvPr/>
        </p:nvSpPr>
        <p:spPr>
          <a:xfrm>
            <a:off x="621792" y="1965960"/>
            <a:ext cx="1453896" cy="868680"/>
          </a:xfrm>
          <a:prstGeom prst="rect">
            <a:avLst/>
          </a:prstGeom>
          <a:noFill/>
          <a:ln/>
        </p:spPr>
        <p:txBody>
          <a:bodyPr wrap="square" lIns="0" tIns="0" rIns="0" bIns="0" rtlCol="0" anchor="ctr"/>
          <a:lstStyle/>
          <a:p>
            <a:pPr algn="ctr" indent="0" marL="0">
              <a:buNone/>
            </a:pPr>
            <a:r>
              <a:rPr lang="en-US" sz="1000" b="1" dirty="0">
                <a:solidFill>
                  <a:schemeClr val="bg1"/>
                </a:solidFill>
              </a:rPr>
              <a:t>LAYER 1</a:t>
            </a:r>
            <a:endParaRPr lang="en-US" sz="1000" dirty="0"/>
          </a:p>
          <a:p>
            <a:pPr algn="ctr" indent="0" marL="0">
              <a:buNone/>
            </a:pPr>
            <a:r>
              <a:rPr lang="en-US" sz="1300" b="1" dirty="0">
                <a:solidFill>
                  <a:schemeClr val="bg1"/>
                </a:solidFill>
              </a:rPr>
              <a:t>Frontend Layer</a:t>
            </a:r>
            <a:endParaRPr lang="en-US" sz="1000" dirty="0"/>
          </a:p>
        </p:txBody>
      </p:sp>
      <p:sp>
        <p:nvSpPr>
          <p:cNvPr id="20" name="Tech 1-1"/>
          <p:cNvSpPr/>
          <p:nvPr/>
        </p:nvSpPr>
        <p:spPr>
          <a:xfrm>
            <a:off x="2240280" y="1965960"/>
            <a:ext cx="2281428" cy="868680"/>
          </a:xfrm>
          <a:prstGeom prst="roundRect">
            <a:avLst>
              <a:gd name="adj" fmla="val 8421"/>
            </a:avLst>
          </a:prstGeom>
          <a:solidFill>
            <a:schemeClr val="bg2"/>
          </a:solidFill>
          <a:ln w="12700">
            <a:solidFill>
              <a:schemeClr val="bg2"/>
            </a:solidFill>
            <a:prstDash val="solid"/>
          </a:ln>
        </p:spPr>
      </p:sp>
      <p:sp>
        <p:nvSpPr>
          <p:cNvPr id="21" name="Text 19"/>
          <p:cNvSpPr txBox="1"/>
          <p:nvPr/>
        </p:nvSpPr>
        <p:spPr>
          <a:xfrm>
            <a:off x="2331720" y="1965960"/>
            <a:ext cx="2098548" cy="868680"/>
          </a:xfrm>
          <a:prstGeom prst="rect">
            <a:avLst/>
          </a:prstGeom>
          <a:noFill/>
          <a:ln/>
        </p:spPr>
        <p:txBody>
          <a:bodyPr wrap="square" lIns="0" tIns="0" rIns="0" bIns="0" rtlCol="0" anchor="ctr"/>
          <a:lstStyle/>
          <a:p>
            <a:pPr algn="l" indent="0" marL="0">
              <a:buNone/>
            </a:pPr>
            <a:r>
              <a:rPr lang="en-US" sz="1200" b="1" dirty="0">
                <a:solidFill>
                  <a:schemeClr val="tx1"/>
                </a:solidFill>
              </a:rPr>
              <a:t>React.js</a:t>
            </a:r>
            <a:endParaRPr lang="en-US" sz="1200" dirty="0"/>
          </a:p>
          <a:p>
            <a:pPr algn="l" indent="0" marL="0">
              <a:buNone/>
            </a:pPr>
            <a:r>
              <a:rPr lang="en-US" sz="1100" dirty="0">
                <a:solidFill>
                  <a:schemeClr val="tx2"/>
                </a:solidFill>
              </a:rPr>
              <a:t>Builds the interactive user interface and dashboard.</a:t>
            </a:r>
            <a:endParaRPr lang="en-US" sz="1200" dirty="0"/>
          </a:p>
        </p:txBody>
      </p:sp>
      <p:sp>
        <p:nvSpPr>
          <p:cNvPr id="22" name="Tech 1-2"/>
          <p:cNvSpPr/>
          <p:nvPr/>
        </p:nvSpPr>
        <p:spPr>
          <a:xfrm>
            <a:off x="4613148" y="1965960"/>
            <a:ext cx="2281428" cy="868680"/>
          </a:xfrm>
          <a:prstGeom prst="roundRect">
            <a:avLst>
              <a:gd name="adj" fmla="val 8421"/>
            </a:avLst>
          </a:prstGeom>
          <a:solidFill>
            <a:schemeClr val="bg2"/>
          </a:solidFill>
          <a:ln w="12700">
            <a:solidFill>
              <a:schemeClr val="bg2"/>
            </a:solidFill>
            <a:prstDash val="solid"/>
          </a:ln>
        </p:spPr>
      </p:sp>
      <p:sp>
        <p:nvSpPr>
          <p:cNvPr id="23" name="Text 21"/>
          <p:cNvSpPr txBox="1"/>
          <p:nvPr/>
        </p:nvSpPr>
        <p:spPr>
          <a:xfrm>
            <a:off x="4704588" y="1965960"/>
            <a:ext cx="2098548" cy="868680"/>
          </a:xfrm>
          <a:prstGeom prst="rect">
            <a:avLst/>
          </a:prstGeom>
          <a:noFill/>
          <a:ln/>
        </p:spPr>
        <p:txBody>
          <a:bodyPr wrap="square" lIns="0" tIns="0" rIns="0" bIns="0" rtlCol="0" anchor="ctr"/>
          <a:lstStyle/>
          <a:p>
            <a:pPr algn="l" indent="0" marL="0">
              <a:buNone/>
            </a:pPr>
            <a:r>
              <a:rPr lang="en-US" sz="1200" b="1" dirty="0">
                <a:solidFill>
                  <a:schemeClr val="tx1"/>
                </a:solidFill>
              </a:rPr>
              <a:t>Vite</a:t>
            </a:r>
            <a:endParaRPr lang="en-US" sz="1200" dirty="0"/>
          </a:p>
          <a:p>
            <a:pPr algn="l" indent="0" marL="0">
              <a:buNone/>
            </a:pPr>
            <a:r>
              <a:rPr lang="en-US" sz="1100" dirty="0">
                <a:solidFill>
                  <a:schemeClr val="tx2"/>
                </a:solidFill>
              </a:rPr>
              <a:t>Provides frontend development server and production bundling.</a:t>
            </a:r>
            <a:endParaRPr lang="en-US" sz="1200" dirty="0"/>
          </a:p>
        </p:txBody>
      </p:sp>
      <p:sp>
        <p:nvSpPr>
          <p:cNvPr id="24" name="Tech 1-3"/>
          <p:cNvSpPr/>
          <p:nvPr/>
        </p:nvSpPr>
        <p:spPr>
          <a:xfrm>
            <a:off x="6986016" y="1965960"/>
            <a:ext cx="2281428" cy="868680"/>
          </a:xfrm>
          <a:prstGeom prst="roundRect">
            <a:avLst>
              <a:gd name="adj" fmla="val 8421"/>
            </a:avLst>
          </a:prstGeom>
          <a:solidFill>
            <a:schemeClr val="bg2"/>
          </a:solidFill>
          <a:ln w="12700">
            <a:solidFill>
              <a:schemeClr val="bg2"/>
            </a:solidFill>
            <a:prstDash val="solid"/>
          </a:ln>
        </p:spPr>
      </p:sp>
      <p:sp>
        <p:nvSpPr>
          <p:cNvPr id="25" name="Text 23"/>
          <p:cNvSpPr txBox="1"/>
          <p:nvPr/>
        </p:nvSpPr>
        <p:spPr>
          <a:xfrm>
            <a:off x="7077456" y="1965960"/>
            <a:ext cx="2098548" cy="868680"/>
          </a:xfrm>
          <a:prstGeom prst="rect">
            <a:avLst/>
          </a:prstGeom>
          <a:noFill/>
          <a:ln/>
        </p:spPr>
        <p:txBody>
          <a:bodyPr wrap="square" lIns="0" tIns="0" rIns="0" bIns="0" rtlCol="0" anchor="ctr"/>
          <a:lstStyle/>
          <a:p>
            <a:pPr algn="l" indent="0" marL="0">
              <a:buNone/>
            </a:pPr>
            <a:r>
              <a:rPr lang="en-US" sz="1200" b="1" dirty="0">
                <a:solidFill>
                  <a:schemeClr val="tx1"/>
                </a:solidFill>
              </a:rPr>
              <a:t>Tailwind CSS</a:t>
            </a:r>
            <a:endParaRPr lang="en-US" sz="1200" dirty="0"/>
          </a:p>
          <a:p>
            <a:pPr algn="l" indent="0" marL="0">
              <a:buNone/>
            </a:pPr>
            <a:r>
              <a:rPr lang="en-US" sz="1100" dirty="0">
                <a:solidFill>
                  <a:schemeClr val="tx2"/>
                </a:solidFill>
              </a:rPr>
              <a:t>Creates responsive UI layouts and styling.</a:t>
            </a:r>
            <a:endParaRPr lang="en-US" sz="1200" dirty="0"/>
          </a:p>
        </p:txBody>
      </p:sp>
      <p:sp>
        <p:nvSpPr>
          <p:cNvPr id="26" name="Tech 1-4"/>
          <p:cNvSpPr/>
          <p:nvPr/>
        </p:nvSpPr>
        <p:spPr>
          <a:xfrm>
            <a:off x="9358884" y="1965960"/>
            <a:ext cx="2281428" cy="868680"/>
          </a:xfrm>
          <a:prstGeom prst="roundRect">
            <a:avLst>
              <a:gd name="adj" fmla="val 8421"/>
            </a:avLst>
          </a:prstGeom>
          <a:solidFill>
            <a:schemeClr val="bg2"/>
          </a:solidFill>
          <a:ln w="12700">
            <a:solidFill>
              <a:schemeClr val="bg2"/>
            </a:solidFill>
            <a:prstDash val="solid"/>
          </a:ln>
        </p:spPr>
      </p:sp>
      <p:sp>
        <p:nvSpPr>
          <p:cNvPr id="27" name="Text 25"/>
          <p:cNvSpPr txBox="1"/>
          <p:nvPr/>
        </p:nvSpPr>
        <p:spPr>
          <a:xfrm>
            <a:off x="9450324" y="1965960"/>
            <a:ext cx="2098548" cy="868680"/>
          </a:xfrm>
          <a:prstGeom prst="rect">
            <a:avLst/>
          </a:prstGeom>
          <a:noFill/>
          <a:ln/>
        </p:spPr>
        <p:txBody>
          <a:bodyPr wrap="square" lIns="0" tIns="0" rIns="0" bIns="0" rtlCol="0" anchor="ctr"/>
          <a:lstStyle/>
          <a:p>
            <a:pPr algn="l" indent="0" marL="0">
              <a:buNone/>
            </a:pPr>
            <a:r>
              <a:rPr lang="en-US" sz="1200" b="1" dirty="0">
                <a:solidFill>
                  <a:schemeClr val="tx1"/>
                </a:solidFill>
              </a:rPr>
              <a:t>Recharts</a:t>
            </a:r>
            <a:endParaRPr lang="en-US" sz="1200" dirty="0"/>
          </a:p>
          <a:p>
            <a:pPr algn="l" indent="0" marL="0">
              <a:buNone/>
            </a:pPr>
            <a:r>
              <a:rPr lang="en-US" sz="1100" dirty="0">
                <a:solidFill>
                  <a:schemeClr val="tx2"/>
                </a:solidFill>
              </a:rPr>
              <a:t>Visualizes analysis metrics and project insights.</a:t>
            </a:r>
            <a:endParaRPr lang="en-US" sz="1200" dirty="0"/>
          </a:p>
        </p:txBody>
      </p:sp>
      <p:sp>
        <p:nvSpPr>
          <p:cNvPr id="28" name="Row label 2"/>
          <p:cNvSpPr/>
          <p:nvPr/>
        </p:nvSpPr>
        <p:spPr>
          <a:xfrm>
            <a:off x="548640" y="2916936"/>
            <a:ext cx="1600200" cy="868680"/>
          </a:xfrm>
          <a:prstGeom prst="roundRect">
            <a:avLst>
              <a:gd name="adj" fmla="val 8421"/>
            </a:avLst>
          </a:prstGeom>
          <a:solidFill>
            <a:schemeClr val="tx1"/>
          </a:solidFill>
          <a:ln w="12700">
            <a:solidFill>
              <a:schemeClr val="tx1"/>
            </a:solidFill>
            <a:prstDash val="solid"/>
          </a:ln>
          <a:effectLst>
            <a:outerShdw sx="100000" sy="100000" kx="0" ky="0" algn="bl" rotWithShape="0" blurRad="76200" dist="25400" dir="5400000">
              <a:srgbClr val="000000">
                <a:alpha val="18000"/>
              </a:srgbClr>
            </a:outerShdw>
          </a:effectLst>
        </p:spPr>
      </p:sp>
      <p:sp>
        <p:nvSpPr>
          <p:cNvPr id="29" name="Text 27"/>
          <p:cNvSpPr txBox="1"/>
          <p:nvPr/>
        </p:nvSpPr>
        <p:spPr>
          <a:xfrm>
            <a:off x="621792" y="2916936"/>
            <a:ext cx="1453896" cy="868680"/>
          </a:xfrm>
          <a:prstGeom prst="rect">
            <a:avLst/>
          </a:prstGeom>
          <a:noFill/>
          <a:ln/>
        </p:spPr>
        <p:txBody>
          <a:bodyPr wrap="square" lIns="0" tIns="0" rIns="0" bIns="0" rtlCol="0" anchor="ctr"/>
          <a:lstStyle/>
          <a:p>
            <a:pPr algn="ctr" indent="0" marL="0">
              <a:buNone/>
            </a:pPr>
            <a:r>
              <a:rPr lang="en-US" sz="1000" b="1" dirty="0">
                <a:solidFill>
                  <a:schemeClr val="bg1"/>
                </a:solidFill>
              </a:rPr>
              <a:t>LAYER 2</a:t>
            </a:r>
            <a:endParaRPr lang="en-US" sz="1000" dirty="0"/>
          </a:p>
          <a:p>
            <a:pPr algn="ctr" indent="0" marL="0">
              <a:buNone/>
            </a:pPr>
            <a:r>
              <a:rPr lang="en-US" sz="1300" b="1" dirty="0">
                <a:solidFill>
                  <a:schemeClr val="bg1"/>
                </a:solidFill>
              </a:rPr>
              <a:t>Backend Layer</a:t>
            </a:r>
            <a:endParaRPr lang="en-US" sz="1000" dirty="0"/>
          </a:p>
        </p:txBody>
      </p:sp>
      <p:sp>
        <p:nvSpPr>
          <p:cNvPr id="30" name="Tech 2-1"/>
          <p:cNvSpPr/>
          <p:nvPr/>
        </p:nvSpPr>
        <p:spPr>
          <a:xfrm>
            <a:off x="2240280" y="2916936"/>
            <a:ext cx="3072384" cy="868680"/>
          </a:xfrm>
          <a:prstGeom prst="roundRect">
            <a:avLst>
              <a:gd name="adj" fmla="val 8421"/>
            </a:avLst>
          </a:prstGeom>
          <a:solidFill>
            <a:schemeClr val="bg2"/>
          </a:solidFill>
          <a:ln w="12700">
            <a:solidFill>
              <a:schemeClr val="bg2"/>
            </a:solidFill>
            <a:prstDash val="solid"/>
          </a:ln>
        </p:spPr>
      </p:sp>
      <p:sp>
        <p:nvSpPr>
          <p:cNvPr id="31" name="Text 29"/>
          <p:cNvSpPr txBox="1"/>
          <p:nvPr/>
        </p:nvSpPr>
        <p:spPr>
          <a:xfrm>
            <a:off x="2331720" y="2916936"/>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Python</a:t>
            </a:r>
            <a:endParaRPr lang="en-US" sz="1200" dirty="0"/>
          </a:p>
          <a:p>
            <a:pPr algn="l" indent="0" marL="0">
              <a:buNone/>
            </a:pPr>
            <a:r>
              <a:rPr lang="en-US" sz="1100" dirty="0">
                <a:solidFill>
                  <a:schemeClr val="tx2"/>
                </a:solidFill>
              </a:rPr>
              <a:t>Implements backend analysis and processing logic.</a:t>
            </a:r>
            <a:endParaRPr lang="en-US" sz="1200" dirty="0"/>
          </a:p>
        </p:txBody>
      </p:sp>
      <p:sp>
        <p:nvSpPr>
          <p:cNvPr id="32" name="Tech 2-2"/>
          <p:cNvSpPr/>
          <p:nvPr/>
        </p:nvSpPr>
        <p:spPr>
          <a:xfrm>
            <a:off x="5404104" y="2916936"/>
            <a:ext cx="3072384" cy="868680"/>
          </a:xfrm>
          <a:prstGeom prst="roundRect">
            <a:avLst>
              <a:gd name="adj" fmla="val 8421"/>
            </a:avLst>
          </a:prstGeom>
          <a:solidFill>
            <a:schemeClr val="bg2"/>
          </a:solidFill>
          <a:ln w="12700">
            <a:solidFill>
              <a:schemeClr val="bg2"/>
            </a:solidFill>
            <a:prstDash val="solid"/>
          </a:ln>
        </p:spPr>
      </p:sp>
      <p:sp>
        <p:nvSpPr>
          <p:cNvPr id="33" name="Text 31"/>
          <p:cNvSpPr txBox="1"/>
          <p:nvPr/>
        </p:nvSpPr>
        <p:spPr>
          <a:xfrm>
            <a:off x="5495544" y="2916936"/>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FastAPI</a:t>
            </a:r>
            <a:endParaRPr lang="en-US" sz="1200" dirty="0"/>
          </a:p>
          <a:p>
            <a:pPr algn="l" indent="0" marL="0">
              <a:buNone/>
            </a:pPr>
            <a:r>
              <a:rPr lang="en-US" sz="1100" dirty="0">
                <a:solidFill>
                  <a:schemeClr val="tx2"/>
                </a:solidFill>
              </a:rPr>
              <a:t>Exposes REST APIs and connects the frontend with the analysis engine.</a:t>
            </a:r>
            <a:endParaRPr lang="en-US" sz="1200" dirty="0"/>
          </a:p>
        </p:txBody>
      </p:sp>
      <p:sp>
        <p:nvSpPr>
          <p:cNvPr id="34" name="Tech 2-3"/>
          <p:cNvSpPr/>
          <p:nvPr/>
        </p:nvSpPr>
        <p:spPr>
          <a:xfrm>
            <a:off x="8567928" y="2916936"/>
            <a:ext cx="3072384" cy="868680"/>
          </a:xfrm>
          <a:prstGeom prst="roundRect">
            <a:avLst>
              <a:gd name="adj" fmla="val 8421"/>
            </a:avLst>
          </a:prstGeom>
          <a:solidFill>
            <a:schemeClr val="bg2"/>
          </a:solidFill>
          <a:ln w="12700">
            <a:solidFill>
              <a:schemeClr val="bg2"/>
            </a:solidFill>
            <a:prstDash val="solid"/>
          </a:ln>
        </p:spPr>
      </p:sp>
      <p:sp>
        <p:nvSpPr>
          <p:cNvPr id="35" name="Text 33"/>
          <p:cNvSpPr txBox="1"/>
          <p:nvPr/>
        </p:nvSpPr>
        <p:spPr>
          <a:xfrm>
            <a:off x="8659368" y="2916936"/>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Pydantic</a:t>
            </a:r>
            <a:endParaRPr lang="en-US" sz="1200" dirty="0"/>
          </a:p>
          <a:p>
            <a:pPr algn="l" indent="0" marL="0">
              <a:buNone/>
            </a:pPr>
            <a:r>
              <a:rPr lang="en-US" sz="1100" dirty="0">
                <a:solidFill>
                  <a:schemeClr val="tx2"/>
                </a:solidFill>
              </a:rPr>
              <a:t>Validates API request and response data.</a:t>
            </a:r>
            <a:endParaRPr lang="en-US" sz="1200" dirty="0"/>
          </a:p>
        </p:txBody>
      </p:sp>
      <p:sp>
        <p:nvSpPr>
          <p:cNvPr id="36" name="Row label 3"/>
          <p:cNvSpPr/>
          <p:nvPr/>
        </p:nvSpPr>
        <p:spPr>
          <a:xfrm>
            <a:off x="548640" y="3867912"/>
            <a:ext cx="1600200" cy="1188720"/>
          </a:xfrm>
          <a:prstGeom prst="roundRect">
            <a:avLst>
              <a:gd name="adj" fmla="val 6154"/>
            </a:avLst>
          </a:prstGeom>
          <a:solidFill>
            <a:srgbClr val="F2A33A"/>
          </a:solidFill>
          <a:ln w="12700">
            <a:solidFill>
              <a:srgbClr val="F2A33A"/>
            </a:solidFill>
            <a:prstDash val="solid"/>
          </a:ln>
          <a:effectLst>
            <a:outerShdw sx="100000" sy="100000" kx="0" ky="0" algn="bl" rotWithShape="0" blurRad="76200" dist="25400" dir="5400000">
              <a:srgbClr val="000000">
                <a:alpha val="18000"/>
              </a:srgbClr>
            </a:outerShdw>
          </a:effectLst>
        </p:spPr>
      </p:sp>
      <p:sp>
        <p:nvSpPr>
          <p:cNvPr id="37" name="Text 35"/>
          <p:cNvSpPr txBox="1"/>
          <p:nvPr/>
        </p:nvSpPr>
        <p:spPr>
          <a:xfrm>
            <a:off x="621792" y="3867912"/>
            <a:ext cx="1453896" cy="1188720"/>
          </a:xfrm>
          <a:prstGeom prst="rect">
            <a:avLst/>
          </a:prstGeom>
          <a:noFill/>
          <a:ln/>
        </p:spPr>
        <p:txBody>
          <a:bodyPr wrap="square" lIns="0" tIns="0" rIns="0" bIns="0" rtlCol="0" anchor="ctr"/>
          <a:lstStyle/>
          <a:p>
            <a:pPr algn="ctr" indent="0" marL="0">
              <a:buNone/>
            </a:pPr>
            <a:r>
              <a:rPr lang="en-US" sz="1000" b="1" dirty="0">
                <a:solidFill>
                  <a:schemeClr val="tx1"/>
                </a:solidFill>
              </a:rPr>
              <a:t>LAYER 3</a:t>
            </a:r>
            <a:endParaRPr lang="en-US" sz="1000" dirty="0"/>
          </a:p>
          <a:p>
            <a:pPr algn="ctr" indent="0" marL="0">
              <a:buNone/>
            </a:pPr>
            <a:r>
              <a:rPr lang="en-US" sz="1200" b="1" dirty="0">
                <a:solidFill>
                  <a:schemeClr val="tx1"/>
                </a:solidFill>
              </a:rPr>
              <a:t>COBOL Analysis &amp; Intelligence Layer</a:t>
            </a:r>
            <a:endParaRPr lang="en-US" sz="1000" dirty="0"/>
          </a:p>
        </p:txBody>
      </p:sp>
      <p:sp>
        <p:nvSpPr>
          <p:cNvPr id="38" name="Tech 3-1"/>
          <p:cNvSpPr/>
          <p:nvPr/>
        </p:nvSpPr>
        <p:spPr>
          <a:xfrm>
            <a:off x="2240280" y="3867912"/>
            <a:ext cx="1806854" cy="1188720"/>
          </a:xfrm>
          <a:prstGeom prst="roundRect">
            <a:avLst>
              <a:gd name="adj" fmla="val 6154"/>
            </a:avLst>
          </a:prstGeom>
          <a:solidFill>
            <a:schemeClr val="bg2"/>
          </a:solidFill>
          <a:ln w="12700">
            <a:solidFill>
              <a:schemeClr val="bg2"/>
            </a:solidFill>
            <a:prstDash val="solid"/>
          </a:ln>
        </p:spPr>
      </p:sp>
      <p:sp>
        <p:nvSpPr>
          <p:cNvPr id="39" name="Text 37"/>
          <p:cNvSpPr txBox="1"/>
          <p:nvPr/>
        </p:nvSpPr>
        <p:spPr>
          <a:xfrm>
            <a:off x="2331720" y="3867912"/>
            <a:ext cx="1623974" cy="1188720"/>
          </a:xfrm>
          <a:prstGeom prst="rect">
            <a:avLst/>
          </a:prstGeom>
          <a:noFill/>
          <a:ln/>
        </p:spPr>
        <p:txBody>
          <a:bodyPr wrap="square" lIns="0" tIns="0" rIns="0" bIns="0" rtlCol="0" anchor="ctr"/>
          <a:lstStyle/>
          <a:p>
            <a:pPr algn="l" indent="0" marL="0">
              <a:buNone/>
            </a:pPr>
            <a:r>
              <a:rPr lang="en-US" sz="1200" b="1" dirty="0">
                <a:solidFill>
                  <a:schemeClr val="tx1"/>
                </a:solidFill>
              </a:rPr>
              <a:t>Python AST / COBOL Structural Analysis</a:t>
            </a:r>
            <a:endParaRPr lang="en-US" sz="1200" dirty="0"/>
          </a:p>
          <a:p>
            <a:pPr algn="l" indent="0" marL="0">
              <a:buNone/>
            </a:pPr>
            <a:r>
              <a:rPr lang="en-US" sz="1100" dirty="0">
                <a:solidFill>
                  <a:schemeClr val="tx2"/>
                </a:solidFill>
              </a:rPr>
              <a:t>Examines program structure and identifies code relationships.</a:t>
            </a:r>
            <a:endParaRPr lang="en-US" sz="1200" dirty="0"/>
          </a:p>
        </p:txBody>
      </p:sp>
      <p:sp>
        <p:nvSpPr>
          <p:cNvPr id="40" name="Tech 3-2"/>
          <p:cNvSpPr/>
          <p:nvPr/>
        </p:nvSpPr>
        <p:spPr>
          <a:xfrm>
            <a:off x="4138574" y="3867912"/>
            <a:ext cx="1806854" cy="1188720"/>
          </a:xfrm>
          <a:prstGeom prst="roundRect">
            <a:avLst>
              <a:gd name="adj" fmla="val 6154"/>
            </a:avLst>
          </a:prstGeom>
          <a:solidFill>
            <a:schemeClr val="bg2"/>
          </a:solidFill>
          <a:ln w="12700">
            <a:solidFill>
              <a:schemeClr val="bg2"/>
            </a:solidFill>
            <a:prstDash val="solid"/>
          </a:ln>
        </p:spPr>
      </p:sp>
      <p:sp>
        <p:nvSpPr>
          <p:cNvPr id="41" name="Text 39"/>
          <p:cNvSpPr txBox="1"/>
          <p:nvPr/>
        </p:nvSpPr>
        <p:spPr>
          <a:xfrm>
            <a:off x="4230014" y="3867912"/>
            <a:ext cx="1623974" cy="1188720"/>
          </a:xfrm>
          <a:prstGeom prst="rect">
            <a:avLst/>
          </a:prstGeom>
          <a:noFill/>
          <a:ln/>
        </p:spPr>
        <p:txBody>
          <a:bodyPr wrap="square" lIns="0" tIns="0" rIns="0" bIns="0" rtlCol="0" anchor="ctr"/>
          <a:lstStyle/>
          <a:p>
            <a:pPr algn="l" indent="0" marL="0">
              <a:buNone/>
            </a:pPr>
            <a:r>
              <a:rPr lang="en-US" sz="1200" b="1" dirty="0">
                <a:solidFill>
                  <a:schemeClr val="tx1"/>
                </a:solidFill>
              </a:rPr>
              <a:t>Rule Extraction Engine</a:t>
            </a:r>
            <a:endParaRPr lang="en-US" sz="1200" dirty="0"/>
          </a:p>
          <a:p>
            <a:pPr algn="l" indent="0" marL="0">
              <a:buNone/>
            </a:pPr>
            <a:r>
              <a:rPr lang="en-US" sz="1100" dirty="0">
                <a:solidFill>
                  <a:schemeClr val="tx2"/>
                </a:solidFill>
              </a:rPr>
              <a:t>Identifies business logic from COBOL source code.</a:t>
            </a:r>
            <a:endParaRPr lang="en-US" sz="1200" dirty="0"/>
          </a:p>
        </p:txBody>
      </p:sp>
      <p:sp>
        <p:nvSpPr>
          <p:cNvPr id="42" name="Tech 3-3"/>
          <p:cNvSpPr/>
          <p:nvPr/>
        </p:nvSpPr>
        <p:spPr>
          <a:xfrm>
            <a:off x="6036869" y="3867912"/>
            <a:ext cx="1806854" cy="1188720"/>
          </a:xfrm>
          <a:prstGeom prst="roundRect">
            <a:avLst>
              <a:gd name="adj" fmla="val 6154"/>
            </a:avLst>
          </a:prstGeom>
          <a:solidFill>
            <a:schemeClr val="bg2"/>
          </a:solidFill>
          <a:ln w="12700">
            <a:solidFill>
              <a:schemeClr val="bg2"/>
            </a:solidFill>
            <a:prstDash val="solid"/>
          </a:ln>
        </p:spPr>
      </p:sp>
      <p:sp>
        <p:nvSpPr>
          <p:cNvPr id="43" name="Text 41"/>
          <p:cNvSpPr txBox="1"/>
          <p:nvPr/>
        </p:nvSpPr>
        <p:spPr>
          <a:xfrm>
            <a:off x="6128309" y="3867912"/>
            <a:ext cx="1623974" cy="1188720"/>
          </a:xfrm>
          <a:prstGeom prst="rect">
            <a:avLst/>
          </a:prstGeom>
          <a:noFill/>
          <a:ln/>
        </p:spPr>
        <p:txBody>
          <a:bodyPr wrap="square" lIns="0" tIns="0" rIns="0" bIns="0" rtlCol="0" anchor="ctr"/>
          <a:lstStyle/>
          <a:p>
            <a:pPr algn="l" indent="0" marL="0">
              <a:buNone/>
            </a:pPr>
            <a:r>
              <a:rPr lang="en-US" sz="1200" b="1" dirty="0">
                <a:solidFill>
                  <a:schemeClr val="tx1"/>
                </a:solidFill>
              </a:rPr>
              <a:t>Evidence Correlation Engine</a:t>
            </a:r>
            <a:endParaRPr lang="en-US" sz="1200" dirty="0"/>
          </a:p>
          <a:p>
            <a:pPr algn="l" indent="0" marL="0">
              <a:buNone/>
            </a:pPr>
            <a:r>
              <a:rPr lang="en-US" sz="1100" dirty="0">
                <a:solidFill>
                  <a:schemeClr val="tx2"/>
                </a:solidFill>
              </a:rPr>
              <a:t>Connects business requirements and incidents with identified rules.</a:t>
            </a:r>
            <a:endParaRPr lang="en-US" sz="1200" dirty="0"/>
          </a:p>
        </p:txBody>
      </p:sp>
      <p:sp>
        <p:nvSpPr>
          <p:cNvPr id="44" name="Tech 3-4"/>
          <p:cNvSpPr/>
          <p:nvPr/>
        </p:nvSpPr>
        <p:spPr>
          <a:xfrm>
            <a:off x="7935163" y="3867912"/>
            <a:ext cx="1806854" cy="1188720"/>
          </a:xfrm>
          <a:prstGeom prst="roundRect">
            <a:avLst>
              <a:gd name="adj" fmla="val 6154"/>
            </a:avLst>
          </a:prstGeom>
          <a:solidFill>
            <a:schemeClr val="bg2"/>
          </a:solidFill>
          <a:ln w="12700">
            <a:solidFill>
              <a:schemeClr val="bg2"/>
            </a:solidFill>
            <a:prstDash val="solid"/>
          </a:ln>
        </p:spPr>
      </p:sp>
      <p:sp>
        <p:nvSpPr>
          <p:cNvPr id="45" name="Text 43"/>
          <p:cNvSpPr txBox="1"/>
          <p:nvPr/>
        </p:nvSpPr>
        <p:spPr>
          <a:xfrm>
            <a:off x="8026603" y="3867912"/>
            <a:ext cx="1623974" cy="1188720"/>
          </a:xfrm>
          <a:prstGeom prst="rect">
            <a:avLst/>
          </a:prstGeom>
          <a:noFill/>
          <a:ln/>
        </p:spPr>
        <p:txBody>
          <a:bodyPr wrap="square" lIns="0" tIns="0" rIns="0" bIns="0" rtlCol="0" anchor="ctr"/>
          <a:lstStyle/>
          <a:p>
            <a:pPr algn="l" indent="0" marL="0">
              <a:buNone/>
            </a:pPr>
            <a:r>
              <a:rPr lang="en-US" sz="1200" b="1" dirty="0">
                <a:solidFill>
                  <a:schemeClr val="tx1"/>
                </a:solidFill>
              </a:rPr>
              <a:t>Risk &amp; Dependency Analysis</a:t>
            </a:r>
            <a:endParaRPr lang="en-US" sz="1200" dirty="0"/>
          </a:p>
          <a:p>
            <a:pPr algn="l" indent="0" marL="0">
              <a:buNone/>
            </a:pPr>
            <a:r>
              <a:rPr lang="en-US" sz="1100" dirty="0">
                <a:solidFill>
                  <a:schemeClr val="tx2"/>
                </a:solidFill>
              </a:rPr>
              <a:t>Identifies potential impact areas and modernization risks.</a:t>
            </a:r>
            <a:endParaRPr lang="en-US" sz="1200" dirty="0"/>
          </a:p>
        </p:txBody>
      </p:sp>
      <p:sp>
        <p:nvSpPr>
          <p:cNvPr id="46" name="Tech 3-5"/>
          <p:cNvSpPr/>
          <p:nvPr/>
        </p:nvSpPr>
        <p:spPr>
          <a:xfrm>
            <a:off x="9833458" y="3867912"/>
            <a:ext cx="1806854" cy="1188720"/>
          </a:xfrm>
          <a:prstGeom prst="roundRect">
            <a:avLst>
              <a:gd name="adj" fmla="val 6154"/>
            </a:avLst>
          </a:prstGeom>
          <a:solidFill>
            <a:schemeClr val="bg2"/>
          </a:solidFill>
          <a:ln w="19050">
            <a:solidFill>
              <a:srgbClr val="5B7FA6"/>
            </a:solidFill>
            <a:prstDash val="dash"/>
          </a:ln>
        </p:spPr>
      </p:sp>
      <p:sp>
        <p:nvSpPr>
          <p:cNvPr id="47" name="Text 45"/>
          <p:cNvSpPr txBox="1"/>
          <p:nvPr/>
        </p:nvSpPr>
        <p:spPr>
          <a:xfrm>
            <a:off x="9924898" y="3867912"/>
            <a:ext cx="1623974" cy="1188720"/>
          </a:xfrm>
          <a:prstGeom prst="rect">
            <a:avLst/>
          </a:prstGeom>
          <a:noFill/>
          <a:ln/>
        </p:spPr>
        <p:txBody>
          <a:bodyPr wrap="square" lIns="0" tIns="0" rIns="0" bIns="0" rtlCol="0" anchor="ctr"/>
          <a:lstStyle/>
          <a:p>
            <a:pPr algn="l" indent="0" marL="0">
              <a:buNone/>
            </a:pPr>
            <a:r>
              <a:rPr lang="en-US" sz="1200" b="1" dirty="0">
                <a:solidFill>
                  <a:schemeClr val="tx1"/>
                </a:solidFill>
              </a:rPr>
              <a:t>Groq API (Optional)</a:t>
            </a:r>
            <a:endParaRPr lang="en-US" sz="1200" dirty="0"/>
          </a:p>
          <a:p>
            <a:pPr algn="l" indent="0" marL="0">
              <a:buNone/>
            </a:pPr>
            <a:r>
              <a:rPr lang="en-US" sz="1100" dirty="0">
                <a:solidFill>
                  <a:schemeClr val="tx2"/>
                </a:solidFill>
              </a:rPr>
              <a:t>Supports LLM-assisted analysis and explanations.</a:t>
            </a:r>
            <a:endParaRPr lang="en-US" sz="1200" dirty="0"/>
          </a:p>
        </p:txBody>
      </p:sp>
      <p:sp>
        <p:nvSpPr>
          <p:cNvPr id="48" name="Row label 4"/>
          <p:cNvSpPr/>
          <p:nvPr/>
        </p:nvSpPr>
        <p:spPr>
          <a:xfrm>
            <a:off x="548640" y="5138928"/>
            <a:ext cx="1600200" cy="868680"/>
          </a:xfrm>
          <a:prstGeom prst="roundRect">
            <a:avLst>
              <a:gd name="adj" fmla="val 8421"/>
            </a:avLst>
          </a:prstGeom>
          <a:solidFill>
            <a:schemeClr val="tx1"/>
          </a:solidFill>
          <a:ln w="12700">
            <a:solidFill>
              <a:schemeClr val="tx1"/>
            </a:solidFill>
            <a:prstDash val="solid"/>
          </a:ln>
          <a:effectLst>
            <a:outerShdw sx="100000" sy="100000" kx="0" ky="0" algn="bl" rotWithShape="0" blurRad="76200" dist="25400" dir="5400000">
              <a:srgbClr val="000000">
                <a:alpha val="18000"/>
              </a:srgbClr>
            </a:outerShdw>
          </a:effectLst>
        </p:spPr>
      </p:sp>
      <p:sp>
        <p:nvSpPr>
          <p:cNvPr id="49" name="Text 47"/>
          <p:cNvSpPr txBox="1"/>
          <p:nvPr/>
        </p:nvSpPr>
        <p:spPr>
          <a:xfrm>
            <a:off x="621792" y="5138928"/>
            <a:ext cx="1453896" cy="868680"/>
          </a:xfrm>
          <a:prstGeom prst="rect">
            <a:avLst/>
          </a:prstGeom>
          <a:noFill/>
          <a:ln/>
        </p:spPr>
        <p:txBody>
          <a:bodyPr wrap="square" lIns="0" tIns="0" rIns="0" bIns="0" rtlCol="0" anchor="ctr"/>
          <a:lstStyle/>
          <a:p>
            <a:pPr algn="ctr" indent="0" marL="0">
              <a:buNone/>
            </a:pPr>
            <a:r>
              <a:rPr lang="en-US" sz="1000" b="1" dirty="0">
                <a:solidFill>
                  <a:schemeClr val="bg1"/>
                </a:solidFill>
              </a:rPr>
              <a:t>LAYER 4</a:t>
            </a:r>
            <a:endParaRPr lang="en-US" sz="1000" dirty="0"/>
          </a:p>
          <a:p>
            <a:pPr algn="ctr" indent="0" marL="0">
              <a:buNone/>
            </a:pPr>
            <a:r>
              <a:rPr lang="en-US" sz="1300" b="1" dirty="0">
                <a:solidFill>
                  <a:schemeClr val="bg1"/>
                </a:solidFill>
              </a:rPr>
              <a:t>Output &amp; Modernization Layer</a:t>
            </a:r>
            <a:endParaRPr lang="en-US" sz="1000" dirty="0"/>
          </a:p>
        </p:txBody>
      </p:sp>
      <p:sp>
        <p:nvSpPr>
          <p:cNvPr id="50" name="Tech 4-1"/>
          <p:cNvSpPr/>
          <p:nvPr/>
        </p:nvSpPr>
        <p:spPr>
          <a:xfrm>
            <a:off x="2240280" y="5138928"/>
            <a:ext cx="3072384" cy="868680"/>
          </a:xfrm>
          <a:prstGeom prst="roundRect">
            <a:avLst>
              <a:gd name="adj" fmla="val 8421"/>
            </a:avLst>
          </a:prstGeom>
          <a:solidFill>
            <a:schemeClr val="bg2"/>
          </a:solidFill>
          <a:ln w="12700">
            <a:solidFill>
              <a:schemeClr val="bg2"/>
            </a:solidFill>
            <a:prstDash val="solid"/>
          </a:ln>
        </p:spPr>
      </p:sp>
      <p:sp>
        <p:nvSpPr>
          <p:cNvPr id="51" name="Text 49"/>
          <p:cNvSpPr txBox="1"/>
          <p:nvPr/>
        </p:nvSpPr>
        <p:spPr>
          <a:xfrm>
            <a:off x="2331720" y="5138928"/>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Java 21 LTS</a:t>
            </a:r>
            <a:endParaRPr lang="en-US" sz="1200" dirty="0"/>
          </a:p>
          <a:p>
            <a:pPr algn="l" indent="0" marL="0">
              <a:buNone/>
            </a:pPr>
            <a:r>
              <a:rPr lang="en-US" sz="1100" dirty="0">
                <a:solidFill>
                  <a:schemeClr val="tx2"/>
                </a:solidFill>
              </a:rPr>
              <a:t>Proposed target language for modernization.</a:t>
            </a:r>
            <a:endParaRPr lang="en-US" sz="1200" dirty="0"/>
          </a:p>
        </p:txBody>
      </p:sp>
      <p:sp>
        <p:nvSpPr>
          <p:cNvPr id="52" name="Tech 4-2"/>
          <p:cNvSpPr/>
          <p:nvPr/>
        </p:nvSpPr>
        <p:spPr>
          <a:xfrm>
            <a:off x="5404104" y="5138928"/>
            <a:ext cx="3072384" cy="868680"/>
          </a:xfrm>
          <a:prstGeom prst="roundRect">
            <a:avLst>
              <a:gd name="adj" fmla="val 8421"/>
            </a:avLst>
          </a:prstGeom>
          <a:solidFill>
            <a:schemeClr val="bg2"/>
          </a:solidFill>
          <a:ln w="12700">
            <a:solidFill>
              <a:schemeClr val="bg2"/>
            </a:solidFill>
            <a:prstDash val="solid"/>
          </a:ln>
        </p:spPr>
      </p:sp>
      <p:sp>
        <p:nvSpPr>
          <p:cNvPr id="53" name="Text 51"/>
          <p:cNvSpPr txBox="1"/>
          <p:nvPr/>
        </p:nvSpPr>
        <p:spPr>
          <a:xfrm>
            <a:off x="5495544" y="5138928"/>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Spring Boot 3.x</a:t>
            </a:r>
            <a:endParaRPr lang="en-US" sz="1200" dirty="0"/>
          </a:p>
          <a:p>
            <a:pPr algn="l" indent="0" marL="0">
              <a:buNone/>
            </a:pPr>
            <a:r>
              <a:rPr lang="en-US" sz="1100" dirty="0">
                <a:solidFill>
                  <a:schemeClr val="tx2"/>
                </a:solidFill>
              </a:rPr>
              <a:t>Proposed framework for building modern banking services.</a:t>
            </a:r>
            <a:endParaRPr lang="en-US" sz="1200" dirty="0"/>
          </a:p>
        </p:txBody>
      </p:sp>
      <p:sp>
        <p:nvSpPr>
          <p:cNvPr id="54" name="Tech 4-3"/>
          <p:cNvSpPr/>
          <p:nvPr/>
        </p:nvSpPr>
        <p:spPr>
          <a:xfrm>
            <a:off x="8567928" y="5138928"/>
            <a:ext cx="3072384" cy="868680"/>
          </a:xfrm>
          <a:prstGeom prst="roundRect">
            <a:avLst>
              <a:gd name="adj" fmla="val 8421"/>
            </a:avLst>
          </a:prstGeom>
          <a:solidFill>
            <a:schemeClr val="bg2"/>
          </a:solidFill>
          <a:ln w="12700">
            <a:solidFill>
              <a:schemeClr val="bg2"/>
            </a:solidFill>
            <a:prstDash val="solid"/>
          </a:ln>
        </p:spPr>
      </p:sp>
      <p:sp>
        <p:nvSpPr>
          <p:cNvPr id="55" name="Text 53"/>
          <p:cNvSpPr txBox="1"/>
          <p:nvPr/>
        </p:nvSpPr>
        <p:spPr>
          <a:xfrm>
            <a:off x="8659368" y="5138928"/>
            <a:ext cx="2889504" cy="868680"/>
          </a:xfrm>
          <a:prstGeom prst="rect">
            <a:avLst/>
          </a:prstGeom>
          <a:noFill/>
          <a:ln/>
        </p:spPr>
        <p:txBody>
          <a:bodyPr wrap="square" lIns="0" tIns="0" rIns="0" bIns="0" rtlCol="0" anchor="ctr"/>
          <a:lstStyle/>
          <a:p>
            <a:pPr algn="l" indent="0" marL="0">
              <a:buNone/>
            </a:pPr>
            <a:r>
              <a:rPr lang="en-US" sz="1200" b="1" dirty="0">
                <a:solidFill>
                  <a:schemeClr val="tx1"/>
                </a:solidFill>
              </a:rPr>
              <a:t>Regression Testing Strategy</a:t>
            </a:r>
            <a:endParaRPr lang="en-US" sz="1200" dirty="0"/>
          </a:p>
          <a:p>
            <a:pPr algn="l" indent="0" marL="0">
              <a:buNone/>
            </a:pPr>
            <a:r>
              <a:rPr lang="en-US" sz="1100" dirty="0">
                <a:solidFill>
                  <a:schemeClr val="tx2"/>
                </a:solidFill>
              </a:rPr>
              <a:t>Defines tests to validate existing business behaviour before migration.</a:t>
            </a:r>
            <a:endParaRPr lang="en-US" sz="1200" dirty="0"/>
          </a:p>
        </p:txBody>
      </p:sp>
      <p:sp>
        <p:nvSpPr>
          <p:cNvPr id="56" name="Text 54"/>
          <p:cNvSpPr txBox="1"/>
          <p:nvPr/>
        </p:nvSpPr>
        <p:spPr>
          <a:xfrm>
            <a:off x="548640" y="6108192"/>
            <a:ext cx="11091672" cy="274320"/>
          </a:xfrm>
          <a:prstGeom prst="rect">
            <a:avLst/>
          </a:prstGeom>
          <a:noFill/>
          <a:ln/>
        </p:spPr>
        <p:txBody>
          <a:bodyPr wrap="square" lIns="0" tIns="0" rIns="0" bIns="0" rtlCol="0" anchor="ctr"/>
          <a:lstStyle/>
          <a:p>
            <a:pPr indent="0" marL="0">
              <a:buNone/>
            </a:pPr>
            <a:r>
              <a:rPr lang="en-US" sz="1100" b="1" dirty="0">
                <a:solidFill>
                  <a:schemeClr val="tx1"/>
                </a:solidFill>
              </a:rPr>
              <a:t>Target: COBOL-85 → Java 21 + Spring Boot 3.x.  </a:t>
            </a:r>
            <a:pPr indent="0" marL="0">
              <a:buNone/>
            </a:pPr>
            <a:r>
              <a:rPr lang="en-US" sz="1100" i="1" dirty="0">
                <a:solidFill>
                  <a:schemeClr val="accent6"/>
                </a:solidFill>
              </a:rPr>
              <a:t>Java and Spring Boot are the proposed modernization target, not the technology used to build LegacyIQ itself.</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LEGACYIQ  ·  KEY FEATURES</a:t>
            </a:r>
            <a:endParaRPr lang="en-US" sz="1200" dirty="0"/>
          </a:p>
        </p:txBody>
      </p:sp>
      <p:sp>
        <p:nvSpPr>
          <p:cNvPr id="3" name="Text 0"/>
          <p:cNvSpPr/>
          <p:nvPr>
            <p:ph idx="100"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800" b="1" dirty="0">
                <a:solidFill>
                  <a:schemeClr val="tx1"/>
                </a:solidFill>
              </a:rPr>
              <a:t>What Makes LegacyIQ Different?</a:t>
            </a:r>
            <a:endParaRPr lang="en-US" sz="2800" dirty="0"/>
          </a:p>
        </p:txBody>
      </p:sp>
      <p:sp>
        <p:nvSpPr>
          <p:cNvPr id="4" name="Feature card 1"/>
          <p:cNvSpPr/>
          <p:nvPr/>
        </p:nvSpPr>
        <p:spPr>
          <a:xfrm>
            <a:off x="548640" y="1417320"/>
            <a:ext cx="3514344" cy="2331720"/>
          </a:xfrm>
          <a:prstGeom prst="roundRect">
            <a:avLst>
              <a:gd name="adj" fmla="val 3922"/>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5" name="Feature badge 1"/>
          <p:cNvSpPr/>
          <p:nvPr/>
        </p:nvSpPr>
        <p:spPr>
          <a:xfrm>
            <a:off x="777240" y="1618488"/>
            <a:ext cx="411480" cy="411480"/>
          </a:xfrm>
          <a:prstGeom prst="ellipse">
            <a:avLst/>
          </a:prstGeom>
          <a:solidFill>
            <a:srgbClr val="1FB5A6"/>
          </a:solidFill>
          <a:ln w="12700">
            <a:solidFill>
              <a:srgbClr val="1FB5A6"/>
            </a:solidFill>
            <a:prstDash val="solid"/>
          </a:ln>
        </p:spPr>
      </p:sp>
      <p:sp>
        <p:nvSpPr>
          <p:cNvPr id="6" name="Text 4"/>
          <p:cNvSpPr txBox="1"/>
          <p:nvPr/>
        </p:nvSpPr>
        <p:spPr>
          <a:xfrm>
            <a:off x="777240" y="1618488"/>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Text 5"/>
          <p:cNvSpPr txBox="1"/>
          <p:nvPr/>
        </p:nvSpPr>
        <p:spPr>
          <a:xfrm>
            <a:off x="1325880" y="1554480"/>
            <a:ext cx="2554224" cy="548640"/>
          </a:xfrm>
          <a:prstGeom prst="rect">
            <a:avLst/>
          </a:prstGeom>
          <a:noFill/>
          <a:ln/>
        </p:spPr>
        <p:txBody>
          <a:bodyPr wrap="square" lIns="0" tIns="0" rIns="0" bIns="0" rtlCol="0" anchor="ctr"/>
          <a:lstStyle/>
          <a:p>
            <a:pPr indent="0" marL="0">
              <a:buNone/>
            </a:pPr>
            <a:r>
              <a:rPr lang="en-US" sz="1600" b="1" dirty="0">
                <a:solidFill>
                  <a:schemeClr val="tx1"/>
                </a:solidFill>
              </a:rPr>
              <a:t>COBOL Source Intelligence</a:t>
            </a:r>
            <a:endParaRPr lang="en-US" sz="1600" dirty="0"/>
          </a:p>
        </p:txBody>
      </p:sp>
      <p:sp>
        <p:nvSpPr>
          <p:cNvPr id="8" name="Text 6"/>
          <p:cNvSpPr txBox="1"/>
          <p:nvPr/>
        </p:nvSpPr>
        <p:spPr>
          <a:xfrm>
            <a:off x="777240" y="2240280"/>
            <a:ext cx="3057144"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Analyzes legacy program structure and data definitions.</a:t>
            </a:r>
            <a:endParaRPr lang="en-US" sz="1400" dirty="0"/>
          </a:p>
          <a:p>
            <a:pPr marL="342900" indent="-342900">
              <a:spcAft>
                <a:spcPts val="400"/>
              </a:spcAft>
              <a:buSzPct val="100000"/>
              <a:buChar char="•"/>
            </a:pPr>
            <a:r>
              <a:rPr lang="en-US" sz="1400" dirty="0">
                <a:solidFill>
                  <a:schemeClr val="tx2"/>
                </a:solidFill>
              </a:rPr>
              <a:t>Identifies important program sections and execution flow.</a:t>
            </a:r>
            <a:endParaRPr lang="en-US" sz="1400" dirty="0"/>
          </a:p>
          <a:p>
            <a:pPr marL="342900" indent="-342900">
              <a:spcAft>
                <a:spcPts val="400"/>
              </a:spcAft>
              <a:buSzPct val="100000"/>
              <a:buChar char="•"/>
            </a:pPr>
            <a:r>
              <a:rPr lang="en-US" sz="1400" dirty="0">
                <a:solidFill>
                  <a:schemeClr val="tx2"/>
                </a:solidFill>
              </a:rPr>
              <a:t>Organizes findings by source file.</a:t>
            </a:r>
            <a:endParaRPr lang="en-US" sz="1400" dirty="0"/>
          </a:p>
        </p:txBody>
      </p:sp>
      <p:sp>
        <p:nvSpPr>
          <p:cNvPr id="9" name="Feature card 2"/>
          <p:cNvSpPr/>
          <p:nvPr/>
        </p:nvSpPr>
        <p:spPr>
          <a:xfrm>
            <a:off x="4337304" y="1417320"/>
            <a:ext cx="3514344" cy="2331720"/>
          </a:xfrm>
          <a:prstGeom prst="roundRect">
            <a:avLst>
              <a:gd name="adj" fmla="val 3922"/>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0" name="Feature badge 2"/>
          <p:cNvSpPr/>
          <p:nvPr/>
        </p:nvSpPr>
        <p:spPr>
          <a:xfrm>
            <a:off x="4565904" y="1618488"/>
            <a:ext cx="411480" cy="411480"/>
          </a:xfrm>
          <a:prstGeom prst="ellipse">
            <a:avLst/>
          </a:prstGeom>
          <a:solidFill>
            <a:srgbClr val="1FB5A6"/>
          </a:solidFill>
          <a:ln w="12700">
            <a:solidFill>
              <a:srgbClr val="1FB5A6"/>
            </a:solidFill>
            <a:prstDash val="solid"/>
          </a:ln>
        </p:spPr>
      </p:sp>
      <p:sp>
        <p:nvSpPr>
          <p:cNvPr id="11" name="Text 9"/>
          <p:cNvSpPr txBox="1"/>
          <p:nvPr/>
        </p:nvSpPr>
        <p:spPr>
          <a:xfrm>
            <a:off x="4565904" y="1618488"/>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2" name="Text 10"/>
          <p:cNvSpPr txBox="1"/>
          <p:nvPr/>
        </p:nvSpPr>
        <p:spPr>
          <a:xfrm>
            <a:off x="5114544" y="1554480"/>
            <a:ext cx="2554224" cy="548640"/>
          </a:xfrm>
          <a:prstGeom prst="rect">
            <a:avLst/>
          </a:prstGeom>
          <a:noFill/>
          <a:ln/>
        </p:spPr>
        <p:txBody>
          <a:bodyPr wrap="square" lIns="0" tIns="0" rIns="0" bIns="0" rtlCol="0" anchor="ctr"/>
          <a:lstStyle/>
          <a:p>
            <a:pPr indent="0" marL="0">
              <a:buNone/>
            </a:pPr>
            <a:r>
              <a:rPr lang="en-US" sz="1600" b="1" dirty="0">
                <a:solidFill>
                  <a:schemeClr val="tx1"/>
                </a:solidFill>
              </a:rPr>
              <a:t>Business Rule Extraction</a:t>
            </a:r>
            <a:endParaRPr lang="en-US" sz="1600" dirty="0"/>
          </a:p>
        </p:txBody>
      </p:sp>
      <p:sp>
        <p:nvSpPr>
          <p:cNvPr id="13" name="Text 11"/>
          <p:cNvSpPr txBox="1"/>
          <p:nvPr/>
        </p:nvSpPr>
        <p:spPr>
          <a:xfrm>
            <a:off x="4565904" y="2240280"/>
            <a:ext cx="3057144"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Identifies deposit and withdrawal logic.</a:t>
            </a:r>
            <a:endParaRPr lang="en-US" sz="1400" dirty="0"/>
          </a:p>
          <a:p>
            <a:pPr marL="342900" indent="-342900">
              <a:spcAft>
                <a:spcPts val="400"/>
              </a:spcAft>
              <a:buSzPct val="100000"/>
              <a:buChar char="•"/>
            </a:pPr>
            <a:r>
              <a:rPr lang="en-US" sz="1400" dirty="0">
                <a:solidFill>
                  <a:schemeClr val="tx2"/>
                </a:solidFill>
              </a:rPr>
              <a:t>Presents source-level logic in understandable business language.</a:t>
            </a:r>
            <a:endParaRPr lang="en-US" sz="1400" dirty="0"/>
          </a:p>
          <a:p>
            <a:pPr marL="342900" indent="-342900">
              <a:spcAft>
                <a:spcPts val="400"/>
              </a:spcAft>
              <a:buSzPct val="100000"/>
              <a:buChar char="•"/>
            </a:pPr>
            <a:r>
              <a:rPr lang="en-US" sz="1400" dirty="0">
                <a:solidFill>
                  <a:schemeClr val="tx2"/>
                </a:solidFill>
              </a:rPr>
              <a:t>Connects findings to relevant source code.</a:t>
            </a:r>
            <a:endParaRPr lang="en-US" sz="1400" dirty="0"/>
          </a:p>
        </p:txBody>
      </p:sp>
      <p:sp>
        <p:nvSpPr>
          <p:cNvPr id="14" name="Feature card 3"/>
          <p:cNvSpPr/>
          <p:nvPr/>
        </p:nvSpPr>
        <p:spPr>
          <a:xfrm>
            <a:off x="8125968" y="1417320"/>
            <a:ext cx="3514344" cy="2331720"/>
          </a:xfrm>
          <a:prstGeom prst="roundRect">
            <a:avLst>
              <a:gd name="adj" fmla="val 3922"/>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5" name="Feature badge 3"/>
          <p:cNvSpPr/>
          <p:nvPr/>
        </p:nvSpPr>
        <p:spPr>
          <a:xfrm>
            <a:off x="8354568" y="1618488"/>
            <a:ext cx="411480" cy="411480"/>
          </a:xfrm>
          <a:prstGeom prst="ellipse">
            <a:avLst/>
          </a:prstGeom>
          <a:solidFill>
            <a:srgbClr val="1FB5A6"/>
          </a:solidFill>
          <a:ln w="12700">
            <a:solidFill>
              <a:srgbClr val="1FB5A6"/>
            </a:solidFill>
            <a:prstDash val="solid"/>
          </a:ln>
        </p:spPr>
      </p:sp>
      <p:sp>
        <p:nvSpPr>
          <p:cNvPr id="16" name="Text 14"/>
          <p:cNvSpPr txBox="1"/>
          <p:nvPr/>
        </p:nvSpPr>
        <p:spPr>
          <a:xfrm>
            <a:off x="8354568" y="1618488"/>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7" name="Text 15"/>
          <p:cNvSpPr txBox="1"/>
          <p:nvPr/>
        </p:nvSpPr>
        <p:spPr>
          <a:xfrm>
            <a:off x="8903208" y="1554480"/>
            <a:ext cx="2554224" cy="548640"/>
          </a:xfrm>
          <a:prstGeom prst="rect">
            <a:avLst/>
          </a:prstGeom>
          <a:noFill/>
          <a:ln/>
        </p:spPr>
        <p:txBody>
          <a:bodyPr wrap="square" lIns="0" tIns="0" rIns="0" bIns="0" rtlCol="0" anchor="ctr"/>
          <a:lstStyle/>
          <a:p>
            <a:pPr indent="0" marL="0">
              <a:buNone/>
            </a:pPr>
            <a:r>
              <a:rPr lang="en-US" sz="1600" b="1" dirty="0">
                <a:solidFill>
                  <a:schemeClr val="tx1"/>
                </a:solidFill>
              </a:rPr>
              <a:t>Dependency &amp; Impact Intelligence</a:t>
            </a:r>
            <a:endParaRPr lang="en-US" sz="1600" dirty="0"/>
          </a:p>
        </p:txBody>
      </p:sp>
      <p:sp>
        <p:nvSpPr>
          <p:cNvPr id="18" name="Text 16"/>
          <p:cNvSpPr txBox="1"/>
          <p:nvPr/>
        </p:nvSpPr>
        <p:spPr>
          <a:xfrm>
            <a:off x="8354568" y="2240280"/>
            <a:ext cx="3057144"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Identifies relationships between program operations and data.</a:t>
            </a:r>
            <a:endParaRPr lang="en-US" sz="1400" dirty="0"/>
          </a:p>
          <a:p>
            <a:pPr marL="342900" indent="-342900">
              <a:spcAft>
                <a:spcPts val="400"/>
              </a:spcAft>
              <a:buSzPct val="100000"/>
              <a:buChar char="•"/>
            </a:pPr>
            <a:r>
              <a:rPr lang="en-US" sz="1400" dirty="0">
                <a:solidFill>
                  <a:schemeClr val="tx2"/>
                </a:solidFill>
              </a:rPr>
              <a:t>Highlights components that may be affected by modifications.</a:t>
            </a:r>
            <a:endParaRPr lang="en-US" sz="1400" dirty="0"/>
          </a:p>
          <a:p>
            <a:pPr marL="342900" indent="-342900">
              <a:spcAft>
                <a:spcPts val="400"/>
              </a:spcAft>
              <a:buSzPct val="100000"/>
              <a:buChar char="•"/>
            </a:pPr>
            <a:r>
              <a:rPr lang="en-US" sz="1400" dirty="0">
                <a:solidFill>
                  <a:schemeClr val="tx2"/>
                </a:solidFill>
              </a:rPr>
              <a:t>Helps understand the potential impact of modernization.</a:t>
            </a:r>
            <a:endParaRPr lang="en-US" sz="1400" dirty="0"/>
          </a:p>
        </p:txBody>
      </p:sp>
      <p:sp>
        <p:nvSpPr>
          <p:cNvPr id="19" name="Feature card 4"/>
          <p:cNvSpPr/>
          <p:nvPr/>
        </p:nvSpPr>
        <p:spPr>
          <a:xfrm>
            <a:off x="548640" y="3931920"/>
            <a:ext cx="5408676"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0" name="Feature badge 4"/>
          <p:cNvSpPr/>
          <p:nvPr/>
        </p:nvSpPr>
        <p:spPr>
          <a:xfrm>
            <a:off x="777240" y="4133088"/>
            <a:ext cx="411480" cy="411480"/>
          </a:xfrm>
          <a:prstGeom prst="ellipse">
            <a:avLst/>
          </a:prstGeom>
          <a:solidFill>
            <a:srgbClr val="1FB5A6"/>
          </a:solidFill>
          <a:ln w="12700">
            <a:solidFill>
              <a:srgbClr val="1FB5A6"/>
            </a:solidFill>
            <a:prstDash val="solid"/>
          </a:ln>
        </p:spPr>
      </p:sp>
      <p:sp>
        <p:nvSpPr>
          <p:cNvPr id="21" name="Text 19"/>
          <p:cNvSpPr txBox="1"/>
          <p:nvPr/>
        </p:nvSpPr>
        <p:spPr>
          <a:xfrm>
            <a:off x="777240" y="4133088"/>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2" name="Text 20"/>
          <p:cNvSpPr txBox="1"/>
          <p:nvPr/>
        </p:nvSpPr>
        <p:spPr>
          <a:xfrm>
            <a:off x="1325880" y="4069080"/>
            <a:ext cx="4448556" cy="548640"/>
          </a:xfrm>
          <a:prstGeom prst="rect">
            <a:avLst/>
          </a:prstGeom>
          <a:noFill/>
          <a:ln/>
        </p:spPr>
        <p:txBody>
          <a:bodyPr wrap="square" lIns="0" tIns="0" rIns="0" bIns="0" rtlCol="0" anchor="ctr"/>
          <a:lstStyle/>
          <a:p>
            <a:pPr indent="0" marL="0">
              <a:buNone/>
            </a:pPr>
            <a:r>
              <a:rPr lang="en-US" sz="1600" b="1" dirty="0">
                <a:solidFill>
                  <a:schemeClr val="tx1"/>
                </a:solidFill>
              </a:rPr>
              <a:t>Evidence-Gated Validation</a:t>
            </a:r>
            <a:endParaRPr lang="en-US" sz="1600" dirty="0"/>
          </a:p>
        </p:txBody>
      </p:sp>
      <p:sp>
        <p:nvSpPr>
          <p:cNvPr id="23" name="Text 21"/>
          <p:cNvSpPr txBox="1"/>
          <p:nvPr/>
        </p:nvSpPr>
        <p:spPr>
          <a:xfrm>
            <a:off x="777240" y="4754880"/>
            <a:ext cx="4951476"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Connects business evidence with identified rules.</a:t>
            </a:r>
            <a:endParaRPr lang="en-US" sz="1400" dirty="0"/>
          </a:p>
          <a:p>
            <a:pPr marL="342900" indent="-342900">
              <a:spcAft>
                <a:spcPts val="400"/>
              </a:spcAft>
              <a:buSzPct val="100000"/>
              <a:buChar char="•"/>
            </a:pPr>
            <a:r>
              <a:rPr lang="en-US" sz="1400" dirty="0">
                <a:solidFill>
                  <a:schemeClr val="tx2"/>
                </a:solidFill>
              </a:rPr>
              <a:t>Highlights conflicts and missing information.</a:t>
            </a:r>
            <a:endParaRPr lang="en-US" sz="1400" dirty="0"/>
          </a:p>
          <a:p>
            <a:pPr marL="342900" indent="-342900">
              <a:spcAft>
                <a:spcPts val="400"/>
              </a:spcAft>
              <a:buSzPct val="100000"/>
              <a:buChar char="•"/>
            </a:pPr>
            <a:r>
              <a:rPr lang="en-US" sz="1400" dirty="0">
                <a:solidFill>
                  <a:schemeClr val="tx2"/>
                </a:solidFill>
              </a:rPr>
              <a:t>Distinguishes confirmed code behaviour from unverified business assumptions.</a:t>
            </a:r>
            <a:endParaRPr lang="en-US" sz="1400" dirty="0"/>
          </a:p>
        </p:txBody>
      </p:sp>
      <p:sp>
        <p:nvSpPr>
          <p:cNvPr id="24" name="Feature card 5"/>
          <p:cNvSpPr/>
          <p:nvPr/>
        </p:nvSpPr>
        <p:spPr>
          <a:xfrm>
            <a:off x="6231636" y="3931920"/>
            <a:ext cx="5408676"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5" name="Feature badge 5"/>
          <p:cNvSpPr/>
          <p:nvPr/>
        </p:nvSpPr>
        <p:spPr>
          <a:xfrm>
            <a:off x="6460236" y="4133088"/>
            <a:ext cx="411480" cy="411480"/>
          </a:xfrm>
          <a:prstGeom prst="ellipse">
            <a:avLst/>
          </a:prstGeom>
          <a:solidFill>
            <a:srgbClr val="1FB5A6"/>
          </a:solidFill>
          <a:ln w="12700">
            <a:solidFill>
              <a:srgbClr val="1FB5A6"/>
            </a:solidFill>
            <a:prstDash val="solid"/>
          </a:ln>
        </p:spPr>
      </p:sp>
      <p:sp>
        <p:nvSpPr>
          <p:cNvPr id="26" name="Text 24"/>
          <p:cNvSpPr txBox="1"/>
          <p:nvPr/>
        </p:nvSpPr>
        <p:spPr>
          <a:xfrm>
            <a:off x="6460236" y="4133088"/>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7" name="Text 25"/>
          <p:cNvSpPr txBox="1"/>
          <p:nvPr/>
        </p:nvSpPr>
        <p:spPr>
          <a:xfrm>
            <a:off x="7008876" y="4069080"/>
            <a:ext cx="4448556" cy="548640"/>
          </a:xfrm>
          <a:prstGeom prst="rect">
            <a:avLst/>
          </a:prstGeom>
          <a:noFill/>
          <a:ln/>
        </p:spPr>
        <p:txBody>
          <a:bodyPr wrap="square" lIns="0" tIns="0" rIns="0" bIns="0" rtlCol="0" anchor="ctr"/>
          <a:lstStyle/>
          <a:p>
            <a:pPr indent="0" marL="0">
              <a:buNone/>
            </a:pPr>
            <a:r>
              <a:rPr lang="en-US" sz="1600" b="1" dirty="0">
                <a:solidFill>
                  <a:schemeClr val="tx1"/>
                </a:solidFill>
              </a:rPr>
              <a:t>Intelligent Modernization Planning</a:t>
            </a:r>
            <a:endParaRPr lang="en-US" sz="1600" dirty="0"/>
          </a:p>
        </p:txBody>
      </p:sp>
      <p:sp>
        <p:nvSpPr>
          <p:cNvPr id="28" name="Text 26"/>
          <p:cNvSpPr txBox="1"/>
          <p:nvPr/>
        </p:nvSpPr>
        <p:spPr>
          <a:xfrm>
            <a:off x="6460236" y="4754880"/>
            <a:ext cx="4951476"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Supports Rehost, Replatform, Refactor, and Replace decisions.</a:t>
            </a:r>
            <a:endParaRPr lang="en-US" sz="1400" dirty="0"/>
          </a:p>
          <a:p>
            <a:pPr marL="342900" indent="-342900">
              <a:spcAft>
                <a:spcPts val="400"/>
              </a:spcAft>
              <a:buSzPct val="100000"/>
              <a:buChar char="•"/>
            </a:pPr>
            <a:r>
              <a:rPr lang="en-US" sz="1400" dirty="0">
                <a:solidFill>
                  <a:schemeClr val="tx2"/>
                </a:solidFill>
              </a:rPr>
              <a:t>Provides a phased Java modernization roadmap.</a:t>
            </a:r>
            <a:endParaRPr lang="en-US" sz="1400" dirty="0"/>
          </a:p>
          <a:p>
            <a:pPr marL="342900" indent="-342900">
              <a:spcAft>
                <a:spcPts val="400"/>
              </a:spcAft>
              <a:buSzPct val="100000"/>
              <a:buChar char="•"/>
            </a:pPr>
            <a:r>
              <a:rPr lang="en-US" sz="1400" dirty="0">
                <a:solidFill>
                  <a:schemeClr val="tx2"/>
                </a:solidFill>
              </a:rPr>
              <a:t>Suggests regression scenarios to preserve business behaviour.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LEGACYIQ  ·  OUTCOME</a:t>
            </a:r>
            <a:endParaRPr lang="en-US" sz="1200" dirty="0"/>
          </a:p>
        </p:txBody>
      </p:sp>
      <p:sp>
        <p:nvSpPr>
          <p:cNvPr id="3" name="Text 0"/>
          <p:cNvSpPr/>
          <p:nvPr>
            <p:ph idx="100"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800" b="1" dirty="0">
                <a:solidFill>
                  <a:schemeClr val="bg1"/>
                </a:solidFill>
              </a:rPr>
              <a:t>From Legacy Code to Modernization Intelligence</a:t>
            </a:r>
            <a:endParaRPr lang="en-US" sz="2800" dirty="0"/>
          </a:p>
        </p:txBody>
      </p:sp>
      <p:sp>
        <p:nvSpPr>
          <p:cNvPr id="4" name="Results card"/>
          <p:cNvSpPr/>
          <p:nvPr/>
        </p:nvSpPr>
        <p:spPr>
          <a:xfrm>
            <a:off x="548640" y="1463040"/>
            <a:ext cx="5486400" cy="3429000"/>
          </a:xfrm>
          <a:prstGeom prst="roundRect">
            <a:avLst>
              <a:gd name="adj" fmla="val 2667"/>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822960" y="1645920"/>
            <a:ext cx="4937760" cy="365760"/>
          </a:xfrm>
          <a:prstGeom prst="rect">
            <a:avLst/>
          </a:prstGeom>
          <a:noFill/>
          <a:ln/>
        </p:spPr>
        <p:txBody>
          <a:bodyPr wrap="square" lIns="0" tIns="0" rIns="0" bIns="0" rtlCol="0" anchor="ctr"/>
          <a:lstStyle/>
          <a:p>
            <a:pPr indent="0" marL="0">
              <a:buNone/>
            </a:pPr>
            <a:r>
              <a:rPr lang="en-US" sz="1500" b="1" dirty="0">
                <a:solidFill>
                  <a:schemeClr val="accent2"/>
                </a:solidFill>
              </a:rPr>
              <a:t>DEMONSTRATION RESULTS: TRANS-PROC.CBL</a:t>
            </a:r>
            <a:endParaRPr lang="en-US" sz="1500" dirty="0"/>
          </a:p>
        </p:txBody>
      </p:sp>
      <p:sp>
        <p:nvSpPr>
          <p:cNvPr id="6" name="Text 4"/>
          <p:cNvSpPr txBox="1"/>
          <p:nvPr/>
        </p:nvSpPr>
        <p:spPr>
          <a:xfrm>
            <a:off x="822960" y="2148840"/>
            <a:ext cx="4937760" cy="26517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bg1"/>
                </a:solidFill>
              </a:rPr>
              <a:t>Identified the COBOL transaction-processing structure.</a:t>
            </a:r>
            <a:endParaRPr lang="en-US" sz="1600" dirty="0"/>
          </a:p>
          <a:p>
            <a:pPr marL="342900" indent="-342900">
              <a:spcAft>
                <a:spcPts val="900"/>
              </a:spcAft>
              <a:buSzPct val="100000"/>
              <a:buChar char="•"/>
            </a:pPr>
            <a:r>
              <a:rPr lang="en-US" sz="1600" dirty="0">
                <a:solidFill>
                  <a:schemeClr val="bg1"/>
                </a:solidFill>
              </a:rPr>
              <a:t>Examined account records and working-storage definitions.</a:t>
            </a:r>
            <a:endParaRPr lang="en-US" sz="1600" dirty="0"/>
          </a:p>
          <a:p>
            <a:pPr marL="342900" indent="-342900">
              <a:spcAft>
                <a:spcPts val="900"/>
              </a:spcAft>
              <a:buSzPct val="100000"/>
              <a:buChar char="•"/>
            </a:pPr>
            <a:r>
              <a:rPr lang="en-US" sz="1600" dirty="0">
                <a:solidFill>
                  <a:schemeClr val="bg1"/>
                </a:solidFill>
              </a:rPr>
              <a:t>Identified deposit and withdrawal operations.</a:t>
            </a:r>
            <a:endParaRPr lang="en-US" sz="1600" dirty="0"/>
          </a:p>
          <a:p>
            <a:pPr marL="342900" indent="-342900">
              <a:spcAft>
                <a:spcPts val="900"/>
              </a:spcAft>
              <a:buSzPct val="100000"/>
              <a:buChar char="•"/>
            </a:pPr>
            <a:r>
              <a:rPr lang="en-US" sz="1600" dirty="0">
                <a:solidFill>
                  <a:schemeClr val="bg1"/>
                </a:solidFill>
              </a:rPr>
              <a:t>Highlighted insufficient-funds and account-lookup handling.</a:t>
            </a:r>
            <a:endParaRPr lang="en-US" sz="1600" dirty="0"/>
          </a:p>
          <a:p>
            <a:pPr marL="342900" indent="-342900">
              <a:spcAft>
                <a:spcPts val="900"/>
              </a:spcAft>
              <a:buSzPct val="100000"/>
              <a:buChar char="•"/>
            </a:pPr>
            <a:r>
              <a:rPr lang="en-US" sz="1600" dirty="0">
                <a:solidFill>
                  <a:schemeClr val="bg1"/>
                </a:solidFill>
              </a:rPr>
              <a:t>Identified file-based account update operations.</a:t>
            </a:r>
            <a:endParaRPr lang="en-US" sz="1600" dirty="0"/>
          </a:p>
          <a:p>
            <a:pPr marL="342900" indent="-342900">
              <a:spcAft>
                <a:spcPts val="900"/>
              </a:spcAft>
              <a:buSzPct val="100000"/>
              <a:buChar char="•"/>
            </a:pPr>
            <a:r>
              <a:rPr lang="en-US" sz="1600" dirty="0">
                <a:solidFill>
                  <a:schemeClr val="bg1"/>
                </a:solidFill>
              </a:rPr>
              <a:t>Established areas requiring further business validation and testing.</a:t>
            </a:r>
            <a:endParaRPr lang="en-US" sz="1600" dirty="0"/>
          </a:p>
        </p:txBody>
      </p:sp>
      <p:sp>
        <p:nvSpPr>
          <p:cNvPr id="7" name="Value card"/>
          <p:cNvSpPr/>
          <p:nvPr/>
        </p:nvSpPr>
        <p:spPr>
          <a:xfrm>
            <a:off x="6336792" y="1463040"/>
            <a:ext cx="5303520" cy="3429000"/>
          </a:xfrm>
          <a:prstGeom prst="roundRect">
            <a:avLst>
              <a:gd name="adj" fmla="val 2667"/>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6611112" y="1645920"/>
            <a:ext cx="4754880" cy="365760"/>
          </a:xfrm>
          <a:prstGeom prst="rect">
            <a:avLst/>
          </a:prstGeom>
          <a:noFill/>
          <a:ln/>
        </p:spPr>
        <p:txBody>
          <a:bodyPr wrap="square" lIns="0" tIns="0" rIns="0" bIns="0" rtlCol="0" anchor="ctr"/>
          <a:lstStyle/>
          <a:p>
            <a:pPr indent="0" marL="0">
              <a:buNone/>
            </a:pPr>
            <a:r>
              <a:rPr lang="en-US" sz="1500" b="1" dirty="0">
                <a:solidFill>
                  <a:schemeClr val="accent1"/>
                </a:solidFill>
              </a:rPr>
              <a:t>BUSINESS VALUE</a:t>
            </a:r>
            <a:endParaRPr lang="en-US" sz="1500" dirty="0"/>
          </a:p>
        </p:txBody>
      </p:sp>
      <p:sp>
        <p:nvSpPr>
          <p:cNvPr id="9" name="Text 7"/>
          <p:cNvSpPr txBox="1"/>
          <p:nvPr/>
        </p:nvSpPr>
        <p:spPr>
          <a:xfrm>
            <a:off x="6611112" y="2148840"/>
            <a:ext cx="4754880" cy="26517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bg1"/>
                </a:solidFill>
              </a:rPr>
              <a:t>Better understanding of undocumented legacy functionality.</a:t>
            </a:r>
            <a:endParaRPr lang="en-US" sz="1600" dirty="0"/>
          </a:p>
          <a:p>
            <a:pPr marL="342900" indent="-342900">
              <a:spcAft>
                <a:spcPts val="900"/>
              </a:spcAft>
              <a:buSzPct val="100000"/>
              <a:buChar char="•"/>
            </a:pPr>
            <a:r>
              <a:rPr lang="en-US" sz="1600" dirty="0">
                <a:solidFill>
                  <a:schemeClr val="bg1"/>
                </a:solidFill>
              </a:rPr>
              <a:t>Improved visibility into dependencies and potential change impact.</a:t>
            </a:r>
            <a:endParaRPr lang="en-US" sz="1600" dirty="0"/>
          </a:p>
          <a:p>
            <a:pPr marL="342900" indent="-342900">
              <a:spcAft>
                <a:spcPts val="900"/>
              </a:spcAft>
              <a:buSzPct val="100000"/>
              <a:buChar char="•"/>
            </a:pPr>
            <a:r>
              <a:rPr lang="en-US" sz="1600" dirty="0">
                <a:solidFill>
                  <a:schemeClr val="bg1"/>
                </a:solidFill>
              </a:rPr>
              <a:t>Reduced risk of incorrect modernization assumptions.</a:t>
            </a:r>
            <a:endParaRPr lang="en-US" sz="1600" dirty="0"/>
          </a:p>
          <a:p>
            <a:pPr marL="342900" indent="-342900">
              <a:spcAft>
                <a:spcPts val="900"/>
              </a:spcAft>
              <a:buSzPct val="100000"/>
              <a:buChar char="•"/>
            </a:pPr>
            <a:r>
              <a:rPr lang="en-US" sz="1600" dirty="0">
                <a:solidFill>
                  <a:schemeClr val="bg1"/>
                </a:solidFill>
              </a:rPr>
              <a:t>Traceable findings that support human review.</a:t>
            </a:r>
            <a:endParaRPr lang="en-US" sz="1600" dirty="0"/>
          </a:p>
          <a:p>
            <a:pPr marL="342900" indent="-342900">
              <a:spcAft>
                <a:spcPts val="900"/>
              </a:spcAft>
              <a:buSzPct val="100000"/>
              <a:buChar char="•"/>
            </a:pPr>
            <a:r>
              <a:rPr lang="en-US" sz="1600" dirty="0">
                <a:solidFill>
                  <a:schemeClr val="bg1"/>
                </a:solidFill>
              </a:rPr>
              <a:t>Structured migration and regression planning.</a:t>
            </a:r>
            <a:endParaRPr lang="en-US" sz="1600" dirty="0"/>
          </a:p>
        </p:txBody>
      </p:sp>
      <p:sp>
        <p:nvSpPr>
          <p:cNvPr id="10" name="Final outcome band"/>
          <p:cNvSpPr/>
          <p:nvPr/>
        </p:nvSpPr>
        <p:spPr>
          <a:xfrm>
            <a:off x="548640" y="5074920"/>
            <a:ext cx="11091672" cy="1188720"/>
          </a:xfrm>
          <a:prstGeom prst="roundRect">
            <a:avLst>
              <a:gd name="adj" fmla="val 7692"/>
            </a:avLst>
          </a:prstGeom>
          <a:solidFill>
            <a:srgbClr val="2F4A6E"/>
          </a:solidFill>
          <a:ln w="12700">
            <a:solidFill>
              <a:srgbClr val="2F4A6E"/>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822960" y="5166360"/>
            <a:ext cx="3657600" cy="228600"/>
          </a:xfrm>
          <a:prstGeom prst="rect">
            <a:avLst/>
          </a:prstGeom>
          <a:noFill/>
          <a:ln/>
        </p:spPr>
        <p:txBody>
          <a:bodyPr wrap="square" lIns="0" tIns="0" rIns="0" bIns="0" rtlCol="0" anchor="ctr"/>
          <a:lstStyle/>
          <a:p>
            <a:pPr indent="0" marL="0">
              <a:buNone/>
            </a:pPr>
            <a:r>
              <a:rPr lang="en-US" sz="1100" b="1" dirty="0">
                <a:solidFill>
                  <a:schemeClr val="accent1"/>
                </a:solidFill>
              </a:rPr>
              <a:t>FINAL OUTCOME</a:t>
            </a:r>
            <a:endParaRPr lang="en-US" sz="1100" dirty="0"/>
          </a:p>
        </p:txBody>
      </p:sp>
      <p:sp>
        <p:nvSpPr>
          <p:cNvPr id="12" name="Text 10"/>
          <p:cNvSpPr txBox="1"/>
          <p:nvPr/>
        </p:nvSpPr>
        <p:spPr>
          <a:xfrm>
            <a:off x="822960" y="5413248"/>
            <a:ext cx="10515600" cy="457200"/>
          </a:xfrm>
          <a:prstGeom prst="rect">
            <a:avLst/>
          </a:prstGeom>
          <a:noFill/>
          <a:ln/>
        </p:spPr>
        <p:txBody>
          <a:bodyPr wrap="square" lIns="0" tIns="0" rIns="0" bIns="0" rtlCol="0" anchor="t"/>
          <a:lstStyle/>
          <a:p>
            <a:pPr indent="0" marL="0">
              <a:buNone/>
            </a:pPr>
            <a:r>
              <a:rPr lang="en-US" sz="1400" dirty="0">
                <a:solidFill>
                  <a:schemeClr val="bg1"/>
                </a:solidFill>
              </a:rPr>
              <a:t>A structured, evidence-guided modernization roadmap that helps teams understand legacy banking applications, validate their behaviour, and plan safer migration to modern technologies.</a:t>
            </a:r>
            <a:endParaRPr lang="en-US" sz="1400" dirty="0"/>
          </a:p>
        </p:txBody>
      </p:sp>
      <p:sp>
        <p:nvSpPr>
          <p:cNvPr id="13" name="Text 11"/>
          <p:cNvSpPr txBox="1"/>
          <p:nvPr/>
        </p:nvSpPr>
        <p:spPr>
          <a:xfrm>
            <a:off x="822960" y="5852160"/>
            <a:ext cx="10515600" cy="347472"/>
          </a:xfrm>
          <a:prstGeom prst="rect">
            <a:avLst/>
          </a:prstGeom>
          <a:noFill/>
          <a:ln/>
        </p:spPr>
        <p:txBody>
          <a:bodyPr wrap="square" lIns="0" tIns="0" rIns="0" bIns="0" rtlCol="0" anchor="ctr"/>
          <a:lstStyle/>
          <a:p>
            <a:pPr indent="0" marL="0">
              <a:buNone/>
            </a:pPr>
            <a:r>
              <a:rPr lang="en-US" sz="1800" b="1" dirty="0">
                <a:solidFill>
                  <a:schemeClr val="accent1"/>
                </a:solidFill>
              </a:rPr>
              <a:t>LegacyIQ: Understand Before You Modernize.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LegacyIQ Banking">
  <a:themeElements>
    <a:clrScheme name="LegacyIQ Banking">
      <a:dk1>
        <a:srgbClr val="0F1B2D"/>
      </a:dk1>
      <a:lt1>
        <a:srgbClr val="FFFFFF"/>
      </a:lt1>
      <a:dk2>
        <a:srgbClr val="1B2B45"/>
      </a:dk2>
      <a:lt2>
        <a:srgbClr val="EAF0F6"/>
      </a:lt2>
      <a:accent1>
        <a:srgbClr val="F2A33A"/>
      </a:accent1>
      <a:accent2>
        <a:srgbClr val="1FB5A6"/>
      </a:accent2>
      <a:accent3>
        <a:srgbClr val="5B7FA6"/>
      </a:accent3>
      <a:accent4>
        <a:srgbClr val="D9534F"/>
      </a:accent4>
      <a:accent5>
        <a:srgbClr val="9FB3C8"/>
      </a:accent5>
      <a:accent6>
        <a:srgbClr val="2F4A6E"/>
      </a:accent6>
      <a:hlink>
        <a:srgbClr val="1FB5A6"/>
      </a:hlink>
      <a:folHlink>
        <a:srgbClr val="9FB3C8"/>
      </a:folHlink>
    </a:clrScheme>
    <a:fontScheme name="LegacyIQ Bank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LegacyIQ - Legacy Banking Modernization</dc:title>
  <dc:subject>PptxGenJS Presentation</dc:subject>
  <dc:creator>PptxGenJS</dc:creator>
  <cp:lastModifiedBy>PptxGenJS</cp:lastModifiedBy>
  <cp:revision>1</cp:revision>
  <dcterms:created xsi:type="dcterms:W3CDTF">2026-10-31T09:00:01Z</dcterms:created>
  <dcterms:modified xsi:type="dcterms:W3CDTF">2026-10-31T09:00:01Z</dcterms:modified>
</cp:coreProperties>
</file>